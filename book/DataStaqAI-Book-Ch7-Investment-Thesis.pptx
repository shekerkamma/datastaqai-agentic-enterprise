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investment thesis with timing, because 'why now' is the question that separates a real opportunity from a good idea that is early or late. Three independent forces are open at the same moment. Demand: the agentic sub-markets are compounding at ten to twenty-five percent a year and the 'wait and see' era is demonstrably over — fifty-eight percent of procurement organizations alone are already using or piloting AI, and similar adoption is visible across every function in Chapter 3. Supply shock: the incumbents themselves are forcing buyers into the market — Salesforce putting CPQ into End-of-Sale strands over six thousand organizations into a reimplementation decision, and Anthropic's Claude legal plug-ins erased roughly $285B of incumbent value in a single session, destabilizing installed bases across categories. A forced buyer is the best buyer a delivery firm can have. Price reset: outcome pricing is collapsing toward $0.40–1.50 per resolution, which flips the buyer's question from 'can we afford AI' to 'who will make it actually work in our environment' — and that second question is precisely what delivery answers. The strategic conclusion, in the gold window band, is that these three forces are open simultaneously now and will not stay open: as price floors keep falling and forced migrations peak, and as the AI-natives and SIs eventually look down-market, the uncontested window to land the mid-market is on the order of twelve to twenty-four months. The investment implication is urgency without recklessness: the path in Chapter 6 is capital-efficient, so the bet is not 'spend huge to capture a land grab' but 'move decisively now while the buyers are in motion and the position is uncontested.' That timing argument sets up the next slide — why DataStaqAI specifically is the team built to capture this window.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'why this team' by showing that four things align on the exact same gap — and alignment, not any one feature, is the investment case. First, category position: DataStaqAI owns the empty mid-market done-for-you cell that the other five archetypes structurally vacate, which is a place on the map rather than a feature a competitor can copy. Second, the operating model is agent-native: the company delivers using the very technology it sells — OpenHands with subagents and thousands of MCP integrations — so it dogfoods its own leverage and improves its delivery engine every time it ships a client, a compounding advantage a traditional SI or a non-technical managed provider cannot replicate. Third, it is capital-efficient by design: a services entry on a software trajectory, where gross margin rises as the reusable library matures and where few logos plus net revenue retention above 130% reach $5–10M — meaning the company can grow without venture-scale burn, which de-risks the investment. Fourth, the moat compounds: the reusable agent and connector library plus embedding in the customer's system of record simultaneously raise switching costs for customers and lower delivery costs for DataStaqAI, so the position strengthens with every engagement. The synthesis to land, in the band, is that the position, the technology, the economics and the moat all point at the same gap — that is the rare alignment that makes a company the natural owner of a category rather than one competitor among many. Be candid that execution risk remains real (the SWOT named it), but frame the bet precisely: this is not a wager on a single product winning a feature race; it is a wager on a team structurally positioned, technically equipped, and economically built to occupy a gap the funded field concedes. The final slide translates that into the headline outcome — why this becomes a $5–10M company.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book on the headline outcome, framed as arithmetic plus position rather than aspiration. The four numbers are the whole case. Roughly 40–50 accounts at about $120k a year reach the $5–10M band, and expansion reduces even that count — so this is not a business that needs hundreds of logos or a huge sales machine. Net revenue retention above 130% means growth comes mostly from within the installed base, which is the most capital-efficient growth there is and the reason the path does not require venture-scale funding. Gross margin rising from a services-like 50% toward a software-like 70% as the reusable library matures is the trajectory that makes the revenue valuable, not just large. And the 12–24-month window against a gap the funded field structurally concedes is the timing that makes now the moment. Tie it together with the closing statement, which is the thesis of the entire document compressed to three clauses: the model commoditizes, the agent is funded, and DataStaqAI owns the layer that turns them into outcomes — the mid-market delivery layer, a proven role (systems integration for the agent era) repriced and re-architected for a segment the incumbents, AI-natives and global SIs all leave open. Remind the audience that every claim was earned across the book: Chapters 1–2 established the shift and the timing, Chapter 3 mapped the function-level opportunity, Chapter 4 proved the white space and why competitors stop short, Chapters 5–6 showed the model and a capital-efficient path, and this chapter set the why-now, why-us and why-$5–10M. The ask, stated plainly to whatever audience is in the room — investor, partner, or hire — is to back the team building the delivery layer for the agent era while the window is open. End there: confident, evidence-backed, and specific.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now: demand, supply shock and price reset have converged — the window is 12–24 months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Three forces are open simultaneously; they will not stay open</a:t>
            </a:r>
          </a:p>
        </p:txBody>
      </p:sp>
      <p:sp>
        <p:nvSpPr>
          <p:cNvPr id="7" name="Rounded Rectangle 6"/>
          <p:cNvSpPr/>
          <p:nvPr/>
        </p:nvSpPr>
        <p:spPr>
          <a:xfrm>
            <a:off x="548640" y="1828800"/>
            <a:ext cx="356616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828800"/>
            <a:ext cx="356616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3200400" cy="502920"/>
          </a:xfrm>
          <a:prstGeom prst="rect">
            <a:avLst/>
          </a:prstGeom>
          <a:noFill/>
        </p:spPr>
        <p:txBody>
          <a:bodyPr wrap="square" anchor="ctr" lIns="0" rIns="0" tIns="0" bIns="0">
            <a:noAutofit/>
          </a:bodyPr>
          <a:lstStyle/>
          <a:p>
            <a:pPr algn="l">
              <a:lnSpc>
                <a:spcPct val="105000"/>
              </a:lnSpc>
              <a:spcBef>
                <a:spcPts val="0"/>
              </a:spcBef>
            </a:pPr>
            <a:r>
              <a:rPr sz="1350" b="1" i="0">
                <a:solidFill>
                  <a:srgbClr val="00C9A7"/>
                </a:solidFill>
                <a:latin typeface="Calibri"/>
              </a:rPr>
              <a:t>DEMAND</a:t>
            </a:r>
          </a:p>
        </p:txBody>
      </p:sp>
      <p:sp>
        <p:nvSpPr>
          <p:cNvPr id="10" name="TextBox 9"/>
          <p:cNvSpPr txBox="1"/>
          <p:nvPr/>
        </p:nvSpPr>
        <p:spPr>
          <a:xfrm>
            <a:off x="749808" y="2514600"/>
            <a:ext cx="3200400" cy="1691640"/>
          </a:xfrm>
          <a:prstGeom prst="rect">
            <a:avLst/>
          </a:prstGeom>
          <a:noFill/>
        </p:spPr>
        <p:txBody>
          <a:bodyPr wrap="square" anchor="t" lIns="0" rIns="0" tIns="0" bIns="0">
            <a:normAutofit/>
          </a:bodyPr>
          <a:lstStyle/>
          <a:p>
            <a:pPr algn="l">
              <a:lnSpc>
                <a:spcPct val="107000"/>
              </a:lnSpc>
              <a:spcBef>
                <a:spcPts val="0"/>
              </a:spcBef>
            </a:pPr>
            <a:r>
              <a:rPr sz="1200" b="0" i="0">
                <a:solidFill>
                  <a:srgbClr val="1B2B3C"/>
                </a:solidFill>
                <a:latin typeface="Calibri"/>
              </a:rPr>
              <a:t>Agentic sub-markets compounding 10–25%/yr; 'wait and see' is over (58% of procurement already piloting AI)</a:t>
            </a:r>
          </a:p>
        </p:txBody>
      </p:sp>
      <p:sp>
        <p:nvSpPr>
          <p:cNvPr id="11" name="Rounded Rectangle 10"/>
          <p:cNvSpPr/>
          <p:nvPr/>
        </p:nvSpPr>
        <p:spPr>
          <a:xfrm>
            <a:off x="4261104" y="1828800"/>
            <a:ext cx="356616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61104" y="1828800"/>
            <a:ext cx="356616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1828800"/>
            <a:ext cx="3200400" cy="502920"/>
          </a:xfrm>
          <a:prstGeom prst="rect">
            <a:avLst/>
          </a:prstGeom>
          <a:noFill/>
        </p:spPr>
        <p:txBody>
          <a:bodyPr wrap="square" anchor="ctr" lIns="0" rIns="0" tIns="0" bIns="0">
            <a:noAutofit/>
          </a:bodyPr>
          <a:lstStyle/>
          <a:p>
            <a:pPr algn="l">
              <a:lnSpc>
                <a:spcPct val="105000"/>
              </a:lnSpc>
              <a:spcBef>
                <a:spcPts val="0"/>
              </a:spcBef>
            </a:pPr>
            <a:r>
              <a:rPr sz="1350" b="1" i="0">
                <a:solidFill>
                  <a:srgbClr val="00C9A7"/>
                </a:solidFill>
                <a:latin typeface="Calibri"/>
              </a:rPr>
              <a:t>SUPPLY SHOCK</a:t>
            </a:r>
          </a:p>
        </p:txBody>
      </p:sp>
      <p:sp>
        <p:nvSpPr>
          <p:cNvPr id="14" name="TextBox 13"/>
          <p:cNvSpPr txBox="1"/>
          <p:nvPr/>
        </p:nvSpPr>
        <p:spPr>
          <a:xfrm>
            <a:off x="4462272" y="2514600"/>
            <a:ext cx="3200400" cy="1691640"/>
          </a:xfrm>
          <a:prstGeom prst="rect">
            <a:avLst/>
          </a:prstGeom>
          <a:noFill/>
        </p:spPr>
        <p:txBody>
          <a:bodyPr wrap="square" anchor="t" lIns="0" rIns="0" tIns="0" bIns="0">
            <a:normAutofit/>
          </a:bodyPr>
          <a:lstStyle/>
          <a:p>
            <a:pPr algn="l">
              <a:lnSpc>
                <a:spcPct val="107000"/>
              </a:lnSpc>
              <a:spcBef>
                <a:spcPts val="0"/>
              </a:spcBef>
            </a:pPr>
            <a:r>
              <a:rPr sz="1200" b="0" i="0">
                <a:solidFill>
                  <a:srgbClr val="1B2B3C"/>
                </a:solidFill>
                <a:latin typeface="Calibri"/>
              </a:rPr>
              <a:t>Incumbents forcing migrations — Salesforce CPQ End-of-Sale (6,000+ orgs); Claude legal plug-ins → ~$285B selloff</a:t>
            </a:r>
          </a:p>
        </p:txBody>
      </p:sp>
      <p:sp>
        <p:nvSpPr>
          <p:cNvPr id="15" name="Rounded Rectangle 14"/>
          <p:cNvSpPr/>
          <p:nvPr/>
        </p:nvSpPr>
        <p:spPr>
          <a:xfrm>
            <a:off x="7973568" y="1828800"/>
            <a:ext cx="356616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73568" y="1828800"/>
            <a:ext cx="356616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56448" y="1828800"/>
            <a:ext cx="3200400" cy="502920"/>
          </a:xfrm>
          <a:prstGeom prst="rect">
            <a:avLst/>
          </a:prstGeom>
          <a:noFill/>
        </p:spPr>
        <p:txBody>
          <a:bodyPr wrap="square" anchor="ctr" lIns="0" rIns="0" tIns="0" bIns="0">
            <a:noAutofit/>
          </a:bodyPr>
          <a:lstStyle/>
          <a:p>
            <a:pPr algn="l">
              <a:lnSpc>
                <a:spcPct val="105000"/>
              </a:lnSpc>
              <a:spcBef>
                <a:spcPts val="0"/>
              </a:spcBef>
            </a:pPr>
            <a:r>
              <a:rPr sz="1350" b="1" i="0">
                <a:solidFill>
                  <a:srgbClr val="00C9A7"/>
                </a:solidFill>
                <a:latin typeface="Calibri"/>
              </a:rPr>
              <a:t>PRICE RESET</a:t>
            </a:r>
          </a:p>
        </p:txBody>
      </p:sp>
      <p:sp>
        <p:nvSpPr>
          <p:cNvPr id="18" name="TextBox 17"/>
          <p:cNvSpPr txBox="1"/>
          <p:nvPr/>
        </p:nvSpPr>
        <p:spPr>
          <a:xfrm>
            <a:off x="8174736" y="2514600"/>
            <a:ext cx="3200400" cy="1691640"/>
          </a:xfrm>
          <a:prstGeom prst="rect">
            <a:avLst/>
          </a:prstGeom>
          <a:noFill/>
        </p:spPr>
        <p:txBody>
          <a:bodyPr wrap="square" anchor="t" lIns="0" rIns="0" tIns="0" bIns="0">
            <a:normAutofit/>
          </a:bodyPr>
          <a:lstStyle/>
          <a:p>
            <a:pPr algn="l">
              <a:lnSpc>
                <a:spcPct val="107000"/>
              </a:lnSpc>
              <a:spcBef>
                <a:spcPts val="0"/>
              </a:spcBef>
            </a:pPr>
            <a:r>
              <a:rPr sz="1200" b="0" i="0">
                <a:solidFill>
                  <a:srgbClr val="1B2B3C"/>
                </a:solidFill>
                <a:latin typeface="Calibri"/>
              </a:rPr>
              <a:t>Outcome pricing collapsing to $0.40–1.50/resolution — the question is now 'who makes it work,' not 'can we afford it'</a:t>
            </a:r>
          </a:p>
        </p:txBody>
      </p:sp>
      <p:sp>
        <p:nvSpPr>
          <p:cNvPr id="19" name="TextBox 18"/>
          <p:cNvSpPr txBox="1"/>
          <p:nvPr/>
        </p:nvSpPr>
        <p:spPr>
          <a:xfrm>
            <a:off x="548640" y="4434840"/>
            <a:ext cx="11094415" cy="365760"/>
          </a:xfrm>
          <a:prstGeom prst="rect">
            <a:avLst/>
          </a:prstGeom>
          <a:noFill/>
        </p:spPr>
        <p:txBody>
          <a:bodyPr wrap="square" anchor="t" lIns="0" rIns="0" tIns="0" bIns="0">
            <a:noAutofit/>
          </a:bodyPr>
          <a:lstStyle/>
          <a:p>
            <a:pPr algn="ctr">
              <a:lnSpc>
                <a:spcPct val="105000"/>
              </a:lnSpc>
              <a:spcBef>
                <a:spcPts val="0"/>
              </a:spcBef>
            </a:pPr>
            <a:r>
              <a:rPr sz="1600" b="1" i="0">
                <a:solidFill>
                  <a:srgbClr val="00C9A7"/>
                </a:solidFill>
                <a:latin typeface="Calibri"/>
              </a:rPr>
              <a:t>↓        ↓        ↓</a:t>
            </a:r>
          </a:p>
        </p:txBody>
      </p:sp>
      <p:sp>
        <p:nvSpPr>
          <p:cNvPr id="20" name="Rounded Rectangle 19"/>
          <p:cNvSpPr/>
          <p:nvPr/>
        </p:nvSpPr>
        <p:spPr>
          <a:xfrm>
            <a:off x="548640" y="4892040"/>
            <a:ext cx="11094415" cy="914400"/>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92040"/>
            <a:ext cx="10637215" cy="914400"/>
          </a:xfrm>
          <a:prstGeom prst="rect">
            <a:avLst/>
          </a:prstGeom>
          <a:noFill/>
        </p:spPr>
        <p:txBody>
          <a:bodyPr wrap="square" anchor="ctr" lIns="0" rIns="0" tIns="0" bIns="0">
            <a:normAutofit/>
          </a:bodyPr>
          <a:lstStyle/>
          <a:p>
            <a:pPr algn="l">
              <a:lnSpc>
                <a:spcPct val="105000"/>
              </a:lnSpc>
              <a:spcBef>
                <a:spcPts val="0"/>
              </a:spcBef>
            </a:pPr>
            <a:r>
              <a:rPr sz="1400" b="1" i="0">
                <a:solidFill>
                  <a:srgbClr val="0A1628"/>
                </a:solidFill>
                <a:latin typeface="Calibri"/>
              </a:rPr>
              <a:t>THE WINDOW: in-market buyers + forced migrations + resetting prices = a 12–24-month opening to land the mid-market before the floors fall and the natives or SIs push down.</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7: Investment Thesis</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44 / 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DataStaqAI: the only team built to own the mid-market delivery layer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Position + operating model + economics + a compounding moat — aligned to the exact gap</a:t>
            </a:r>
          </a:p>
        </p:txBody>
      </p:sp>
      <p:sp>
        <p:nvSpPr>
          <p:cNvPr id="7" name="Rounded Rectangle 6"/>
          <p:cNvSpPr/>
          <p:nvPr/>
        </p:nvSpPr>
        <p:spPr>
          <a:xfrm>
            <a:off x="548640" y="1783080"/>
            <a:ext cx="5440680" cy="17373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29384"/>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Category position, not a feature</a:t>
            </a:r>
          </a:p>
        </p:txBody>
      </p:sp>
      <p:sp>
        <p:nvSpPr>
          <p:cNvPr id="10" name="TextBox 9"/>
          <p:cNvSpPr txBox="1"/>
          <p:nvPr/>
        </p:nvSpPr>
        <p:spPr>
          <a:xfrm>
            <a:off x="822960" y="2459736"/>
            <a:ext cx="4937760" cy="96012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Owns the empty mid-market done-for-you cell the other five archetypes structurally vacate</a:t>
            </a:r>
          </a:p>
        </p:txBody>
      </p:sp>
      <p:sp>
        <p:nvSpPr>
          <p:cNvPr id="11" name="Rounded Rectangle 10"/>
          <p:cNvSpPr/>
          <p:nvPr/>
        </p:nvSpPr>
        <p:spPr>
          <a:xfrm>
            <a:off x="6153912" y="1783080"/>
            <a:ext cx="5440680" cy="17373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3912" y="178308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929384"/>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Agent-native operating model</a:t>
            </a:r>
          </a:p>
        </p:txBody>
      </p:sp>
      <p:sp>
        <p:nvSpPr>
          <p:cNvPr id="14" name="TextBox 13"/>
          <p:cNvSpPr txBox="1"/>
          <p:nvPr/>
        </p:nvSpPr>
        <p:spPr>
          <a:xfrm>
            <a:off x="6428232" y="2459736"/>
            <a:ext cx="4937760" cy="96012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Delivers with the same tech it sells — OpenHands + subagents + thousands of MCPs — so it dogfoods its own leverage</a:t>
            </a:r>
          </a:p>
        </p:txBody>
      </p:sp>
      <p:sp>
        <p:nvSpPr>
          <p:cNvPr id="15" name="Rounded Rectangle 14"/>
          <p:cNvSpPr/>
          <p:nvPr/>
        </p:nvSpPr>
        <p:spPr>
          <a:xfrm>
            <a:off x="548640" y="3703320"/>
            <a:ext cx="5440680" cy="17373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0332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49624"/>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Capital-efficient by design</a:t>
            </a:r>
          </a:p>
        </p:txBody>
      </p:sp>
      <p:sp>
        <p:nvSpPr>
          <p:cNvPr id="18" name="TextBox 17"/>
          <p:cNvSpPr txBox="1"/>
          <p:nvPr/>
        </p:nvSpPr>
        <p:spPr>
          <a:xfrm>
            <a:off x="822960" y="4379976"/>
            <a:ext cx="4937760" cy="96012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Services entry on a software trajectory: margin rises with library reuse; few logos + NRR&gt;130% reach $5–10M</a:t>
            </a:r>
          </a:p>
        </p:txBody>
      </p:sp>
      <p:sp>
        <p:nvSpPr>
          <p:cNvPr id="19" name="Rounded Rectangle 18"/>
          <p:cNvSpPr/>
          <p:nvPr/>
        </p:nvSpPr>
        <p:spPr>
          <a:xfrm>
            <a:off x="6153912" y="3703320"/>
            <a:ext cx="5440680" cy="17373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370332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849624"/>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 compounding moat</a:t>
            </a:r>
          </a:p>
        </p:txBody>
      </p:sp>
      <p:sp>
        <p:nvSpPr>
          <p:cNvPr id="22" name="TextBox 21"/>
          <p:cNvSpPr txBox="1"/>
          <p:nvPr/>
        </p:nvSpPr>
        <p:spPr>
          <a:xfrm>
            <a:off x="6428232" y="4379976"/>
            <a:ext cx="4937760" cy="96012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Reusable agent/connector library + embedding in the system of record raise switching cost and cut delivery cost over time</a:t>
            </a:r>
          </a:p>
        </p:txBody>
      </p:sp>
      <p:sp>
        <p:nvSpPr>
          <p:cNvPr id="23" name="Rounded Rectangle 22"/>
          <p:cNvSpPr/>
          <p:nvPr/>
        </p:nvSpPr>
        <p:spPr>
          <a:xfrm>
            <a:off x="548640" y="5623560"/>
            <a:ext cx="11094415" cy="8229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23560"/>
            <a:ext cx="10637215" cy="822960"/>
          </a:xfrm>
          <a:prstGeom prst="rect">
            <a:avLst/>
          </a:prstGeom>
          <a:noFill/>
        </p:spPr>
        <p:txBody>
          <a:bodyPr wrap="square" anchor="ctr" lIns="0" rIns="0" tIns="0" bIns="0">
            <a:normAutofit/>
          </a:bodyPr>
          <a:lstStyle/>
          <a:p>
            <a:pPr algn="l">
              <a:lnSpc>
                <a:spcPct val="105000"/>
              </a:lnSpc>
              <a:spcBef>
                <a:spcPts val="0"/>
              </a:spcBef>
            </a:pPr>
            <a:r>
              <a:rPr sz="1400" b="1" i="0">
                <a:solidFill>
                  <a:srgbClr val="FFFFFF"/>
                </a:solidFill>
                <a:latin typeface="Calibri"/>
              </a:rPr>
              <a:t>The position, the tech, the economics and the moat all point at the same gap. That alignment — not any single feature — is why DataStaqAI is the team to own this layer.</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7: Investment Thesis</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45 /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02920"/>
            <a:ext cx="11094415" cy="731520"/>
          </a:xfrm>
          <a:prstGeom prst="rect">
            <a:avLst/>
          </a:prstGeom>
          <a:noFill/>
        </p:spPr>
        <p:txBody>
          <a:bodyPr wrap="square" anchor="t" lIns="0" rIns="0" tIns="0" bIns="0">
            <a:noAutofit/>
          </a:bodyPr>
          <a:lstStyle/>
          <a:p>
            <a:pPr algn="l">
              <a:lnSpc>
                <a:spcPct val="105000"/>
              </a:lnSpc>
              <a:spcBef>
                <a:spcPts val="0"/>
              </a:spcBef>
            </a:pPr>
            <a:r>
              <a:rPr sz="2800" b="1" i="0">
                <a:solidFill>
                  <a:srgbClr val="FFFFFF"/>
                </a:solidFill>
                <a:latin typeface="Calibri"/>
              </a:rPr>
              <a:t>Why this becomes a $5–10M company</a:t>
            </a:r>
          </a:p>
        </p:txBody>
      </p:sp>
      <p:sp>
        <p:nvSpPr>
          <p:cNvPr id="5" name="Rectangle 4"/>
          <p:cNvSpPr/>
          <p:nvPr/>
        </p:nvSpPr>
        <p:spPr>
          <a:xfrm>
            <a:off x="548640" y="1234440"/>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54480"/>
            <a:ext cx="5440680" cy="1828800"/>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~40–50</a:t>
            </a:r>
          </a:p>
        </p:txBody>
      </p:sp>
      <p:sp>
        <p:nvSpPr>
          <p:cNvPr id="8" name="TextBox 7"/>
          <p:cNvSpPr txBox="1"/>
          <p:nvPr/>
        </p:nvSpPr>
        <p:spPr>
          <a:xfrm>
            <a:off x="822960" y="2468880"/>
            <a:ext cx="4937760" cy="82296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accounts at ~$120k/yr, reduced further by expansion, reach the $5–10M band</a:t>
            </a:r>
          </a:p>
        </p:txBody>
      </p:sp>
      <p:sp>
        <p:nvSpPr>
          <p:cNvPr id="9" name="Rounded Rectangle 8"/>
          <p:cNvSpPr/>
          <p:nvPr/>
        </p:nvSpPr>
        <p:spPr>
          <a:xfrm>
            <a:off x="6153912" y="1554480"/>
            <a:ext cx="5440680" cy="1828800"/>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173736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NRR &gt; 130%</a:t>
            </a:r>
          </a:p>
        </p:txBody>
      </p:sp>
      <p:sp>
        <p:nvSpPr>
          <p:cNvPr id="11" name="TextBox 10"/>
          <p:cNvSpPr txBox="1"/>
          <p:nvPr/>
        </p:nvSpPr>
        <p:spPr>
          <a:xfrm>
            <a:off x="6428232" y="2468880"/>
            <a:ext cx="4937760" cy="82296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growth comes mostly from within the base — the most capital-efficient growth there is</a:t>
            </a:r>
          </a:p>
        </p:txBody>
      </p:sp>
      <p:sp>
        <p:nvSpPr>
          <p:cNvPr id="12" name="Rounded Rectangle 11"/>
          <p:cNvSpPr/>
          <p:nvPr/>
        </p:nvSpPr>
        <p:spPr>
          <a:xfrm>
            <a:off x="548640" y="3657600"/>
            <a:ext cx="5440680" cy="1828800"/>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4048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50% → 70%</a:t>
            </a:r>
          </a:p>
        </p:txBody>
      </p:sp>
      <p:sp>
        <p:nvSpPr>
          <p:cNvPr id="14" name="TextBox 13"/>
          <p:cNvSpPr txBox="1"/>
          <p:nvPr/>
        </p:nvSpPr>
        <p:spPr>
          <a:xfrm>
            <a:off x="822960" y="4572000"/>
            <a:ext cx="4937760" cy="82296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gross margin rising with library reuse: a services entry on a software trajectory</a:t>
            </a:r>
          </a:p>
        </p:txBody>
      </p:sp>
      <p:sp>
        <p:nvSpPr>
          <p:cNvPr id="15" name="Rounded Rectangle 14"/>
          <p:cNvSpPr/>
          <p:nvPr/>
        </p:nvSpPr>
        <p:spPr>
          <a:xfrm>
            <a:off x="6153912" y="3657600"/>
            <a:ext cx="5440680" cy="1828800"/>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3840480"/>
            <a:ext cx="4937760" cy="731520"/>
          </a:xfrm>
          <a:prstGeom prst="rect">
            <a:avLst/>
          </a:prstGeom>
          <a:noFill/>
        </p:spPr>
        <p:txBody>
          <a:bodyPr wrap="square" anchor="t" lIns="0" rIns="0" tIns="0" bIns="0">
            <a:normAutofit/>
          </a:bodyPr>
          <a:lstStyle/>
          <a:p>
            <a:pPr algn="l">
              <a:lnSpc>
                <a:spcPct val="105000"/>
              </a:lnSpc>
              <a:spcBef>
                <a:spcPts val="0"/>
              </a:spcBef>
            </a:pPr>
            <a:r>
              <a:rPr sz="3000" b="1" i="0">
                <a:solidFill>
                  <a:srgbClr val="FFB800"/>
                </a:solidFill>
                <a:latin typeface="Calibri"/>
              </a:rPr>
              <a:t>12–24 mo</a:t>
            </a:r>
          </a:p>
        </p:txBody>
      </p:sp>
      <p:sp>
        <p:nvSpPr>
          <p:cNvPr id="17" name="TextBox 16"/>
          <p:cNvSpPr txBox="1"/>
          <p:nvPr/>
        </p:nvSpPr>
        <p:spPr>
          <a:xfrm>
            <a:off x="6428232" y="4572000"/>
            <a:ext cx="4937760" cy="82296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an open window against a gap the funded field structurally concedes</a:t>
            </a:r>
          </a:p>
        </p:txBody>
      </p:sp>
      <p:sp>
        <p:nvSpPr>
          <p:cNvPr id="18" name="TextBox 17"/>
          <p:cNvSpPr txBox="1"/>
          <p:nvPr/>
        </p:nvSpPr>
        <p:spPr>
          <a:xfrm>
            <a:off x="548640" y="5669280"/>
            <a:ext cx="11094415" cy="822960"/>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Calibri"/>
              </a:rPr>
              <a:t>A proven delivery role (systems integration for the agent era), repriced for the mid-market, on a capital-efficient, expansion-led path. The model commoditizes; the agent is funded; DataStaqAI owns the layer that turns them into outcomes.</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DataStaqAI · The Agentic Enterprise · Chapter 7: Investment Thesis</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46 / 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
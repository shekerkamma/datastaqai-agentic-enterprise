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path-to-scale chapter with acquisition, because the credibility of every later number depends on a believable way to win customers. The motion across the top is the funnel: a trigger signal, targeted outbound against it, a small pilot at $2–3k a month, a case study, and then referral and expansion. The key idea is that this reuses the hunt established in Chapter 4 — DataStaqAI does not need to generate demand from scratch; it monitors for in-market, forced buyers (a Salesforce CPQ End-of-Sale, a SOC-analyst job posting, a low-code re-pricing, a failed OCR rollout) and reaches them at the moment of pain. The four channels — trigger monitoring, vertical referrals and communities, the partner and agent-vendor ecosystem, and founder-led targeted content — are all low-cash, high-leverage for a small team. Why it is efficient: triggered buyers are already shopping, a small pilot clears approval without a committee, proof rather than promises sells the next deal, and each win seeds referrals within the same vertical, which compounds. On economics, be explicit that these are illustrative: founder-led selling means low cash CAC but real time cost; the target is CAC payback inside six to nine months, with pilots converting to managed retainers within a quarter or two and referral CAC approaching zero. The logos-needed callout is the slide's strategic punchline and the bridge to the rest of the chapter: roughly 40–50 accounts at about $120k a year gets you to $5–7M, and expansion (net revenue retention) reduces how many new logos you actually need, while high-trust BUILD wins punch above their headline ACV. The takeaway to land is that this is an acquisition motion a small, disciplined team can actually execute — not a venture-scale demand-gen machine — which is exactly right for a delivery business compounding toward $5–10M. Expansion, the real growth engine, is next.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Expansion is the single most important mechanic in the path to $5–10M, so give it its own slide and make the compounding vivid. The step diagram shows one account's journey: a pilot on a single function at $2–3k a month, then a second function, a third, a multi-function program at $10–15k a month, and ultimately a BUILD project layered on top. Why accounts expand is structural, not hopeful: the first win creates trust and, just as importantly, the agent is already wired into the customer's systems, so the integration cost of the next use case is largely paid; the same buyer typically owns several adjacent broken workflows; the reusable library makes the second-through-fifth use case cheap to deliver; and switching cost rises as the agent embeds in the system of record, protecting the base. The math of net revenue retention is the strategic payoff: at NRR above 130%, the installed base grows in value before a single new logo is added, a cohort can roughly double over 24 months, and that expansion revenue carries near-zero incremental customer-acquisition cost because you are selling to an existing, happy buyer. Put the two together — few logos plus strong NRR — and you have a capital-efficient path to $5–10M that does not require a large sales organization. This is the answer to the skeptic who assumes a delivery business must grind out hundreds of logos: it does not, if each account compounds three-to-five-fold. Be explicit that the NRR figure and cohort doubling are illustrative targets, not promises, and that achieving them depends on delivery quality and the reusable library maturing as planned — which is exactly why the hiring and delivery model must be right, the subject of the next slide. The headline to leave in the room: growth comes mostly from within the installed base, which is the most capital-efficient growth there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Hiring is where a delivery business either earns software-like economics or collapses into a body-shop, so the model must be explicit. The unit of scaling is the pod, not the individual: a pod is one or two senior engineers plus the shared agent and MCP library, and — this is the leverage point — each pod runs several accounts rather than one engineer per client. Productized scope (the three service lines from Chapter 5) lets mid-level staff execute against a known playbook instead of every senior reinventing each engagement, and a new pod is added only when recurring ARR justifies it, keeping hiring disciplined and demand-led. The illustrative headcount ramp shows the shape: Year 1 is the founder plus two or three people, focused as much on building the first reusable library as on delivery; Year 2 is roughly six to ten — two or three pods plus go-to-market and operations; Year 3 is roughly fifteen to twenty-five to support $5–10M in revenue. The critical metric is revenue per head trending upward over time, because the library compounds and each engagement gets cheaper to deliver — the exact opposite of a systems integrator whose revenue and headcount rise together. Make the contrast explicit in the band: lean by design, headcount grows slower than revenue, and the agent library is the force multiplier. Be honest, echoing the SWOT, that in the early years before the library is deep, the model is more labor-intensive and the revenue-per-head advantage is a trajectory being built, not an instant property — which is why disciplined productization and pod leverage are non-negotiable rather than nice to have. The numbers are illustrative and will flex with delivery efficiency and deal mix; the durable claim is the structure — pods over armies, reuse over rework, hire behind ARR. The economics slide quantifies what this leverage produces.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quantifies what the model produces, and the framing must be disciplined: these are illustrative unit economics whose value is the shape, not the decimal places. The chart shows the ARR ramp — recurring managed revenue in teal stacking with build-project revenue in gold — climbing from under a million in Year 1 to roughly $2.5M in Year 2 and into the $5–10M target band by Year 3, with recurring becoming the dominant and compounding component. The unit economics on the right define the engine. Gross margin starts at a services-like 50–55% but trends toward software-like 65–70%-plus as the reusable library matures and each engagement requires less bespoke work — that upward margin trajectory is the whole bet. CAC payback under six-to-nine months reflects the trigger-led, founder-and-referral acquisition motion with low cash cost. LTV-to-CAC above four-to-five-times is driven by net revenue retention over 130% and low churn, because the agent is embedded in the system of record and expensive to rip out. And the roughly 70% recurring, 30% build mix gives durable, growing ARR rather than lumpy project revenue. State the assumptions plainly so the model is auditable: roughly $120k average account per year, NRR above 130%, around 40–50 accounts to reach the target, and margin rising with library reuse — and label every one of them illustrative, to be replaced with real cohort data. The strategic message is the investor one: this is a services business on a software trajectory — capital-efficient, recurring, margin-expanding — which is precisely the profile that can reach $5–10M without massive funding. The honest caveat to voice is that the margin expansion and NRR are earned through delivery discipline, not guaranteed by the model; the next slide lays out the execution roadmap that earns them phase by phase.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path-to-scale chapter with an execution roadmap that turns the model into a sequence anyone can hold accountable, each phase with one objective and a clear exit milestone. Phase 1, the first six months, is Prove: land the first BUILD win and two or three pilots, and — just as important — build the first reusable library; the exit milestone is three to five reference logos that make the next deals easier. Phase 2, months six to twelve, is Productize: harden the three service lines and the governance layer, templatize the top use cases, and reach repeatable margins at roughly $1M ARR; this is the phase that converts a consultancy into a scalable delivery firm. Phase 3, the second year, is Expand: drive land-and-expand across the installed base toward net revenue retention above 130%, add two or three delivery pods and a go-to-market function, and exit around $2.5–4M ARR. Phase 4, the third year, is Scale: codify vertical playbooks, open a partner channel, scale pods behind ARR, and reach the $5–10M target. The discipline to emphasize is that each phase is demand-led — you productize before you scale, you expand the base before you chase logos, and you add headcount behind recurring revenue, never ahead of it — which keeps the whole path capital-efficient. Note that the phases are illustrative and the timeline will flex with traction, but the ordering is deliberate and load-bearing: proving delivery must come before productizing, productizing before expanding, expanding before scaling. The sequence also de-risks the threats from the SWOT — by building the reusable library and embedding in systems of record early, the business raises switching costs and margin before larger competitors might push down-market. With acquisition, expansion, hiring, economics and roadmap established, the book has shown not just that the opportunity exists but that there is a credible, capital-efficient path to capture it. Chapter 7 closes with the investment thesis: why now, why DataStaqAI, and why this becomes a $5–10M company.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Acquisition is trigger-led outbound + proof-led referral — few logos needed because each compounds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Hunt the signal, land a small pilot, turn it into a case study and a referral  (illustrative)</a:t>
            </a:r>
          </a:p>
        </p:txBody>
      </p:sp>
      <p:sp>
        <p:nvSpPr>
          <p:cNvPr id="7" name="Rounded Rectangle 6"/>
          <p:cNvSpPr/>
          <p:nvPr/>
        </p:nvSpPr>
        <p:spPr>
          <a:xfrm>
            <a:off x="548640" y="173736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3736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Trigger signal</a:t>
            </a:r>
          </a:p>
        </p:txBody>
      </p:sp>
      <p:sp>
        <p:nvSpPr>
          <p:cNvPr id="9" name="TextBox 8"/>
          <p:cNvSpPr txBox="1"/>
          <p:nvPr/>
        </p:nvSpPr>
        <p:spPr>
          <a:xfrm>
            <a:off x="2606040" y="173736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0" name="Rounded Rectangle 9"/>
          <p:cNvSpPr/>
          <p:nvPr/>
        </p:nvSpPr>
        <p:spPr>
          <a:xfrm>
            <a:off x="2788920" y="173736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73736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Targeted outbound</a:t>
            </a:r>
          </a:p>
        </p:txBody>
      </p:sp>
      <p:sp>
        <p:nvSpPr>
          <p:cNvPr id="12" name="TextBox 11"/>
          <p:cNvSpPr txBox="1"/>
          <p:nvPr/>
        </p:nvSpPr>
        <p:spPr>
          <a:xfrm>
            <a:off x="4846320" y="173736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3" name="Rounded Rectangle 12"/>
          <p:cNvSpPr/>
          <p:nvPr/>
        </p:nvSpPr>
        <p:spPr>
          <a:xfrm>
            <a:off x="5029200" y="173736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73736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Pilot ($2–3k/mo)</a:t>
            </a:r>
          </a:p>
        </p:txBody>
      </p:sp>
      <p:sp>
        <p:nvSpPr>
          <p:cNvPr id="15" name="TextBox 14"/>
          <p:cNvSpPr txBox="1"/>
          <p:nvPr/>
        </p:nvSpPr>
        <p:spPr>
          <a:xfrm>
            <a:off x="7086600" y="173736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6" name="Rounded Rectangle 15"/>
          <p:cNvSpPr/>
          <p:nvPr/>
        </p:nvSpPr>
        <p:spPr>
          <a:xfrm>
            <a:off x="7269480" y="173736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0920" y="173736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Case study</a:t>
            </a:r>
          </a:p>
        </p:txBody>
      </p:sp>
      <p:sp>
        <p:nvSpPr>
          <p:cNvPr id="18" name="TextBox 17"/>
          <p:cNvSpPr txBox="1"/>
          <p:nvPr/>
        </p:nvSpPr>
        <p:spPr>
          <a:xfrm>
            <a:off x="9326880" y="173736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9" name="Rounded Rectangle 18"/>
          <p:cNvSpPr/>
          <p:nvPr/>
        </p:nvSpPr>
        <p:spPr>
          <a:xfrm>
            <a:off x="9509760" y="173736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73736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Referral / expand</a:t>
            </a:r>
          </a:p>
        </p:txBody>
      </p:sp>
      <p:sp>
        <p:nvSpPr>
          <p:cNvPr id="21" name="Rounded Rectangle 20"/>
          <p:cNvSpPr/>
          <p:nvPr/>
        </p:nvSpPr>
        <p:spPr>
          <a:xfrm>
            <a:off x="548640" y="2880360"/>
            <a:ext cx="2606040" cy="23774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2880360"/>
            <a:ext cx="91440"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008376"/>
            <a:ext cx="219456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CHANNELS</a:t>
            </a:r>
          </a:p>
        </p:txBody>
      </p:sp>
      <p:sp>
        <p:nvSpPr>
          <p:cNvPr id="24" name="TextBox 23"/>
          <p:cNvSpPr txBox="1"/>
          <p:nvPr/>
        </p:nvSpPr>
        <p:spPr>
          <a:xfrm>
            <a:off x="786384" y="3483864"/>
            <a:ext cx="2148840" cy="1645920"/>
          </a:xfrm>
          <a:prstGeom prst="rect">
            <a:avLst/>
          </a:prstGeom>
          <a:noFill/>
        </p:spPr>
        <p:txBody>
          <a:bodyPr wrap="square" anchor="t" lIns="0" rIns="0" tIns="0" bIns="0">
            <a:normAutofit/>
          </a:bodyPr>
          <a:lstStyle/>
          <a:p>
            <a:pPr algn="l">
              <a:lnSpc>
                <a:spcPct val="105000"/>
              </a:lnSpc>
              <a:spcBef>
                <a:spcPts val="500"/>
              </a:spcBef>
            </a:pPr>
            <a:r>
              <a:rPr sz="1050" b="0" i="0">
                <a:solidFill>
                  <a:srgbClr val="1B2B3C"/>
                </a:solidFill>
                <a:latin typeface="Calibri"/>
              </a:rPr>
              <a:t>•  Trigger monitoring (job posts, EOS, re-pricing)</a:t>
            </a:r>
          </a:p>
          <a:p>
            <a:pPr algn="l">
              <a:lnSpc>
                <a:spcPct val="105000"/>
              </a:lnSpc>
              <a:spcBef>
                <a:spcPts val="500"/>
              </a:spcBef>
            </a:pPr>
            <a:r>
              <a:rPr sz="1050" b="0" i="0">
                <a:solidFill>
                  <a:srgbClr val="1B2B3C"/>
                </a:solidFill>
                <a:latin typeface="Calibri"/>
              </a:rPr>
              <a:t>•  Vertical referrals &amp; communities</a:t>
            </a:r>
          </a:p>
          <a:p>
            <a:pPr algn="l">
              <a:lnSpc>
                <a:spcPct val="105000"/>
              </a:lnSpc>
              <a:spcBef>
                <a:spcPts val="500"/>
              </a:spcBef>
            </a:pPr>
            <a:r>
              <a:rPr sz="1050" b="0" i="0">
                <a:solidFill>
                  <a:srgbClr val="1B2B3C"/>
                </a:solidFill>
                <a:latin typeface="Calibri"/>
              </a:rPr>
              <a:t>•  Partner / agent-vendor ecosystem</a:t>
            </a:r>
          </a:p>
          <a:p>
            <a:pPr algn="l">
              <a:lnSpc>
                <a:spcPct val="105000"/>
              </a:lnSpc>
              <a:spcBef>
                <a:spcPts val="500"/>
              </a:spcBef>
            </a:pPr>
            <a:r>
              <a:rPr sz="1050" b="0" i="0">
                <a:solidFill>
                  <a:srgbClr val="1B2B3C"/>
                </a:solidFill>
                <a:latin typeface="Calibri"/>
              </a:rPr>
              <a:t>•  Founder-led + targeted content</a:t>
            </a:r>
          </a:p>
        </p:txBody>
      </p:sp>
      <p:sp>
        <p:nvSpPr>
          <p:cNvPr id="25" name="Rounded Rectangle 24"/>
          <p:cNvSpPr/>
          <p:nvPr/>
        </p:nvSpPr>
        <p:spPr>
          <a:xfrm>
            <a:off x="3319272" y="2880360"/>
            <a:ext cx="2606040" cy="23774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19272" y="2880360"/>
            <a:ext cx="91440"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57016" y="3008376"/>
            <a:ext cx="219456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WHY IT'S EFFICIENT</a:t>
            </a:r>
          </a:p>
        </p:txBody>
      </p:sp>
      <p:sp>
        <p:nvSpPr>
          <p:cNvPr id="28" name="TextBox 27"/>
          <p:cNvSpPr txBox="1"/>
          <p:nvPr/>
        </p:nvSpPr>
        <p:spPr>
          <a:xfrm>
            <a:off x="3557016" y="3483864"/>
            <a:ext cx="2148840" cy="1645920"/>
          </a:xfrm>
          <a:prstGeom prst="rect">
            <a:avLst/>
          </a:prstGeom>
          <a:noFill/>
        </p:spPr>
        <p:txBody>
          <a:bodyPr wrap="square" anchor="t" lIns="0" rIns="0" tIns="0" bIns="0">
            <a:normAutofit/>
          </a:bodyPr>
          <a:lstStyle/>
          <a:p>
            <a:pPr algn="l">
              <a:lnSpc>
                <a:spcPct val="105000"/>
              </a:lnSpc>
              <a:spcBef>
                <a:spcPts val="500"/>
              </a:spcBef>
            </a:pPr>
            <a:r>
              <a:rPr sz="1050" b="0" i="0">
                <a:solidFill>
                  <a:srgbClr val="1B2B3C"/>
                </a:solidFill>
                <a:latin typeface="Calibri"/>
              </a:rPr>
              <a:t>•  Triggered buyers are in-market (forced)</a:t>
            </a:r>
          </a:p>
          <a:p>
            <a:pPr algn="l">
              <a:lnSpc>
                <a:spcPct val="105000"/>
              </a:lnSpc>
              <a:spcBef>
                <a:spcPts val="500"/>
              </a:spcBef>
            </a:pPr>
            <a:r>
              <a:rPr sz="1050" b="0" i="0">
                <a:solidFill>
                  <a:srgbClr val="1B2B3C"/>
                </a:solidFill>
                <a:latin typeface="Calibri"/>
              </a:rPr>
              <a:t>•  Small pilot = low approval friction</a:t>
            </a:r>
          </a:p>
          <a:p>
            <a:pPr algn="l">
              <a:lnSpc>
                <a:spcPct val="105000"/>
              </a:lnSpc>
              <a:spcBef>
                <a:spcPts val="500"/>
              </a:spcBef>
            </a:pPr>
            <a:r>
              <a:rPr sz="1050" b="0" i="0">
                <a:solidFill>
                  <a:srgbClr val="1B2B3C"/>
                </a:solidFill>
                <a:latin typeface="Calibri"/>
              </a:rPr>
              <a:t>•  Proof, not promises, sells the next deal</a:t>
            </a:r>
          </a:p>
          <a:p>
            <a:pPr algn="l">
              <a:lnSpc>
                <a:spcPct val="105000"/>
              </a:lnSpc>
              <a:spcBef>
                <a:spcPts val="500"/>
              </a:spcBef>
            </a:pPr>
            <a:r>
              <a:rPr sz="1050" b="0" i="0">
                <a:solidFill>
                  <a:srgbClr val="1B2B3C"/>
                </a:solidFill>
                <a:latin typeface="Calibri"/>
              </a:rPr>
              <a:t>•  Each win seeds referrals in the vertical</a:t>
            </a:r>
          </a:p>
        </p:txBody>
      </p:sp>
      <p:sp>
        <p:nvSpPr>
          <p:cNvPr id="29" name="Rounded Rectangle 28"/>
          <p:cNvSpPr/>
          <p:nvPr/>
        </p:nvSpPr>
        <p:spPr>
          <a:xfrm>
            <a:off x="6089904" y="2880360"/>
            <a:ext cx="2606040" cy="237744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089904" y="2880360"/>
            <a:ext cx="91440"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8" y="3008376"/>
            <a:ext cx="219456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CAC (illustrative)</a:t>
            </a:r>
          </a:p>
        </p:txBody>
      </p:sp>
      <p:sp>
        <p:nvSpPr>
          <p:cNvPr id="32" name="TextBox 31"/>
          <p:cNvSpPr txBox="1"/>
          <p:nvPr/>
        </p:nvSpPr>
        <p:spPr>
          <a:xfrm>
            <a:off x="6327648" y="3483864"/>
            <a:ext cx="2148840" cy="1645920"/>
          </a:xfrm>
          <a:prstGeom prst="rect">
            <a:avLst/>
          </a:prstGeom>
          <a:noFill/>
        </p:spPr>
        <p:txBody>
          <a:bodyPr wrap="square" anchor="t" lIns="0" rIns="0" tIns="0" bIns="0">
            <a:normAutofit/>
          </a:bodyPr>
          <a:lstStyle/>
          <a:p>
            <a:pPr algn="l">
              <a:lnSpc>
                <a:spcPct val="105000"/>
              </a:lnSpc>
              <a:spcBef>
                <a:spcPts val="500"/>
              </a:spcBef>
            </a:pPr>
            <a:r>
              <a:rPr sz="1050" b="0" i="0">
                <a:solidFill>
                  <a:srgbClr val="E0F7F1"/>
                </a:solidFill>
                <a:latin typeface="Calibri"/>
              </a:rPr>
              <a:t>•  Founder-led: low cash CAC, high time</a:t>
            </a:r>
          </a:p>
          <a:p>
            <a:pPr algn="l">
              <a:lnSpc>
                <a:spcPct val="105000"/>
              </a:lnSpc>
              <a:spcBef>
                <a:spcPts val="500"/>
              </a:spcBef>
            </a:pPr>
            <a:r>
              <a:rPr sz="1050" b="0" i="0">
                <a:solidFill>
                  <a:srgbClr val="E0F7F1"/>
                </a:solidFill>
                <a:latin typeface="Calibri"/>
              </a:rPr>
              <a:t>•  Target CAC payback &lt; 6–9 months</a:t>
            </a:r>
          </a:p>
          <a:p>
            <a:pPr algn="l">
              <a:lnSpc>
                <a:spcPct val="105000"/>
              </a:lnSpc>
              <a:spcBef>
                <a:spcPts val="500"/>
              </a:spcBef>
            </a:pPr>
            <a:r>
              <a:rPr sz="1050" b="0" i="0">
                <a:solidFill>
                  <a:srgbClr val="E0F7F1"/>
                </a:solidFill>
                <a:latin typeface="Calibri"/>
              </a:rPr>
              <a:t>•  Pilot converts to managed within 1–2 quarters</a:t>
            </a:r>
          </a:p>
          <a:p>
            <a:pPr algn="l">
              <a:lnSpc>
                <a:spcPct val="105000"/>
              </a:lnSpc>
              <a:spcBef>
                <a:spcPts val="500"/>
              </a:spcBef>
            </a:pPr>
            <a:r>
              <a:rPr sz="1050" b="0" i="0">
                <a:solidFill>
                  <a:srgbClr val="E0F7F1"/>
                </a:solidFill>
                <a:latin typeface="Calibri"/>
              </a:rPr>
              <a:t>•  Referral CAC ≈ near-zero</a:t>
            </a:r>
          </a:p>
        </p:txBody>
      </p:sp>
      <p:sp>
        <p:nvSpPr>
          <p:cNvPr id="33" name="Rounded Rectangle 32"/>
          <p:cNvSpPr/>
          <p:nvPr/>
        </p:nvSpPr>
        <p:spPr>
          <a:xfrm>
            <a:off x="8860536" y="2880360"/>
            <a:ext cx="2743200" cy="237744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860536" y="2880360"/>
            <a:ext cx="91440" cy="237744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98280" y="3008376"/>
            <a:ext cx="233172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LOGOS NEEDED</a:t>
            </a:r>
          </a:p>
        </p:txBody>
      </p:sp>
      <p:sp>
        <p:nvSpPr>
          <p:cNvPr id="36" name="TextBox 35"/>
          <p:cNvSpPr txBox="1"/>
          <p:nvPr/>
        </p:nvSpPr>
        <p:spPr>
          <a:xfrm>
            <a:off x="9098280" y="3483864"/>
            <a:ext cx="2286000" cy="1645920"/>
          </a:xfrm>
          <a:prstGeom prst="rect">
            <a:avLst/>
          </a:prstGeom>
          <a:noFill/>
        </p:spPr>
        <p:txBody>
          <a:bodyPr wrap="square" anchor="t" lIns="0" rIns="0" tIns="0" bIns="0">
            <a:normAutofit/>
          </a:bodyPr>
          <a:lstStyle/>
          <a:p>
            <a:pPr algn="l">
              <a:lnSpc>
                <a:spcPct val="105000"/>
              </a:lnSpc>
              <a:spcBef>
                <a:spcPts val="500"/>
              </a:spcBef>
            </a:pPr>
            <a:r>
              <a:rPr sz="1050" b="0" i="0">
                <a:solidFill>
                  <a:srgbClr val="1B2B3C"/>
                </a:solidFill>
                <a:latin typeface="Calibri"/>
              </a:rPr>
              <a:t>•  ~40–50 accounts at ~$120k/yr → ~$5–7M</a:t>
            </a:r>
          </a:p>
          <a:p>
            <a:pPr algn="l">
              <a:lnSpc>
                <a:spcPct val="105000"/>
              </a:lnSpc>
              <a:spcBef>
                <a:spcPts val="500"/>
              </a:spcBef>
            </a:pPr>
            <a:r>
              <a:rPr sz="1050" b="0" i="0">
                <a:solidFill>
                  <a:srgbClr val="1B2B3C"/>
                </a:solidFill>
                <a:latin typeface="Calibri"/>
              </a:rPr>
              <a:t>•  Expansion (NRR) cuts the new-logo count</a:t>
            </a:r>
          </a:p>
          <a:p>
            <a:pPr algn="l">
              <a:lnSpc>
                <a:spcPct val="105000"/>
              </a:lnSpc>
              <a:spcBef>
                <a:spcPts val="500"/>
              </a:spcBef>
            </a:pPr>
            <a:r>
              <a:rPr sz="1050" b="0" i="0">
                <a:solidFill>
                  <a:srgbClr val="1B2B3C"/>
                </a:solidFill>
                <a:latin typeface="Calibri"/>
              </a:rPr>
              <a:t>•  High-trust BUILD wins punch above ACV</a:t>
            </a:r>
          </a:p>
        </p:txBody>
      </p:sp>
      <p:sp>
        <p:nvSpPr>
          <p:cNvPr id="37" name="Rounded Rectangle 36"/>
          <p:cNvSpPr/>
          <p:nvPr/>
        </p:nvSpPr>
        <p:spPr>
          <a:xfrm>
            <a:off x="548640" y="548640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548640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The hunt from Chapter 4's signals is the acquisition engine: in-market buyers, low-friction pilots, proof-led referrals — a motion a small team can run.</a:t>
            </a:r>
          </a:p>
        </p:txBody>
      </p:sp>
      <p:sp>
        <p:nvSpPr>
          <p:cNvPr id="39" name="TextBox 38"/>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6: Path to $5–10M</a:t>
            </a:r>
          </a:p>
        </p:txBody>
      </p:sp>
      <p:sp>
        <p:nvSpPr>
          <p:cNvPr id="40" name="TextBox 39"/>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39 / 46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Expansion is the growth engine: land one function, expand to 3–5, NRR &gt; 130%</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 single account compounds from a $2–3k pilot to a $10–15k/mo multi-function program  (illustrative)</a:t>
            </a:r>
          </a:p>
        </p:txBody>
      </p:sp>
      <p:sp>
        <p:nvSpPr>
          <p:cNvPr id="7" name="Rounded Rectangle 6"/>
          <p:cNvSpPr/>
          <p:nvPr/>
        </p:nvSpPr>
        <p:spPr>
          <a:xfrm>
            <a:off x="548640" y="182880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Pilot: 1 function $2–3k/mo</a:t>
            </a:r>
          </a:p>
        </p:txBody>
      </p:sp>
      <p:sp>
        <p:nvSpPr>
          <p:cNvPr id="9" name="TextBox 8"/>
          <p:cNvSpPr txBox="1"/>
          <p:nvPr/>
        </p:nvSpPr>
        <p:spPr>
          <a:xfrm>
            <a:off x="2606040" y="182880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0" name="Rounded Rectangle 9"/>
          <p:cNvSpPr/>
          <p:nvPr/>
        </p:nvSpPr>
        <p:spPr>
          <a:xfrm>
            <a:off x="2788920" y="182880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82880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+2nd function</a:t>
            </a:r>
          </a:p>
        </p:txBody>
      </p:sp>
      <p:sp>
        <p:nvSpPr>
          <p:cNvPr id="12" name="TextBox 11"/>
          <p:cNvSpPr txBox="1"/>
          <p:nvPr/>
        </p:nvSpPr>
        <p:spPr>
          <a:xfrm>
            <a:off x="4846320" y="182880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3" name="Rounded Rectangle 12"/>
          <p:cNvSpPr/>
          <p:nvPr/>
        </p:nvSpPr>
        <p:spPr>
          <a:xfrm>
            <a:off x="5029200" y="182880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82880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+3rd function</a:t>
            </a:r>
          </a:p>
        </p:txBody>
      </p:sp>
      <p:sp>
        <p:nvSpPr>
          <p:cNvPr id="15" name="TextBox 14"/>
          <p:cNvSpPr txBox="1"/>
          <p:nvPr/>
        </p:nvSpPr>
        <p:spPr>
          <a:xfrm>
            <a:off x="7086600" y="182880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6" name="Rounded Rectangle 15"/>
          <p:cNvSpPr/>
          <p:nvPr/>
        </p:nvSpPr>
        <p:spPr>
          <a:xfrm>
            <a:off x="7269480" y="182880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60920" y="182880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Multi-function $10–15k/mo</a:t>
            </a:r>
          </a:p>
        </p:txBody>
      </p:sp>
      <p:sp>
        <p:nvSpPr>
          <p:cNvPr id="18" name="TextBox 17"/>
          <p:cNvSpPr txBox="1"/>
          <p:nvPr/>
        </p:nvSpPr>
        <p:spPr>
          <a:xfrm>
            <a:off x="9326880" y="182880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9" name="Rounded Rectangle 18"/>
          <p:cNvSpPr/>
          <p:nvPr/>
        </p:nvSpPr>
        <p:spPr>
          <a:xfrm>
            <a:off x="9509760" y="1828800"/>
            <a:ext cx="205740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828800"/>
            <a:ext cx="187452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 BUILD project</a:t>
            </a:r>
          </a:p>
        </p:txBody>
      </p:sp>
      <p:sp>
        <p:nvSpPr>
          <p:cNvPr id="21" name="Rounded Rectangle 20"/>
          <p:cNvSpPr/>
          <p:nvPr/>
        </p:nvSpPr>
        <p:spPr>
          <a:xfrm>
            <a:off x="548640" y="3017520"/>
            <a:ext cx="5440680" cy="219456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017520"/>
            <a:ext cx="91440" cy="21945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145536"/>
            <a:ext cx="502920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WHY ACCOUNTS EXPAND</a:t>
            </a:r>
          </a:p>
        </p:txBody>
      </p:sp>
      <p:sp>
        <p:nvSpPr>
          <p:cNvPr id="24" name="TextBox 23"/>
          <p:cNvSpPr txBox="1"/>
          <p:nvPr/>
        </p:nvSpPr>
        <p:spPr>
          <a:xfrm>
            <a:off x="786384" y="3621024"/>
            <a:ext cx="4983480" cy="1463040"/>
          </a:xfrm>
          <a:prstGeom prst="rect">
            <a:avLst/>
          </a:prstGeom>
          <a:noFill/>
        </p:spPr>
        <p:txBody>
          <a:bodyPr wrap="square" anchor="t" lIns="0" rIns="0" tIns="0" bIns="0">
            <a:normAutofit/>
          </a:bodyPr>
          <a:lstStyle/>
          <a:p>
            <a:pPr algn="l">
              <a:lnSpc>
                <a:spcPct val="105000"/>
              </a:lnSpc>
              <a:spcBef>
                <a:spcPts val="500"/>
              </a:spcBef>
            </a:pPr>
            <a:r>
              <a:rPr sz="1050" b="0" i="0">
                <a:solidFill>
                  <a:srgbClr val="1B2B3C"/>
                </a:solidFill>
                <a:latin typeface="Calibri"/>
              </a:rPr>
              <a:t>•  Trust from the first win + system access already in place</a:t>
            </a:r>
          </a:p>
          <a:p>
            <a:pPr algn="l">
              <a:lnSpc>
                <a:spcPct val="105000"/>
              </a:lnSpc>
              <a:spcBef>
                <a:spcPts val="500"/>
              </a:spcBef>
            </a:pPr>
            <a:r>
              <a:rPr sz="1050" b="0" i="0">
                <a:solidFill>
                  <a:srgbClr val="1B2B3C"/>
                </a:solidFill>
                <a:latin typeface="Calibri"/>
              </a:rPr>
              <a:t>•  Same buyer owns adjacent broken workflows</a:t>
            </a:r>
          </a:p>
          <a:p>
            <a:pPr algn="l">
              <a:lnSpc>
                <a:spcPct val="105000"/>
              </a:lnSpc>
              <a:spcBef>
                <a:spcPts val="500"/>
              </a:spcBef>
            </a:pPr>
            <a:r>
              <a:rPr sz="1050" b="0" i="0">
                <a:solidFill>
                  <a:srgbClr val="1B2B3C"/>
                </a:solidFill>
                <a:latin typeface="Calibri"/>
              </a:rPr>
              <a:t>•  Reusable library makes the 2nd–5th use case cheap to add</a:t>
            </a:r>
          </a:p>
          <a:p>
            <a:pPr algn="l">
              <a:lnSpc>
                <a:spcPct val="105000"/>
              </a:lnSpc>
              <a:spcBef>
                <a:spcPts val="500"/>
              </a:spcBef>
            </a:pPr>
            <a:r>
              <a:rPr sz="1050" b="0" i="0">
                <a:solidFill>
                  <a:srgbClr val="1B2B3C"/>
                </a:solidFill>
                <a:latin typeface="Calibri"/>
              </a:rPr>
              <a:t>•  Switching cost rises as the agent embeds in the SoR</a:t>
            </a:r>
          </a:p>
        </p:txBody>
      </p:sp>
      <p:sp>
        <p:nvSpPr>
          <p:cNvPr id="25" name="Rounded Rectangle 24"/>
          <p:cNvSpPr/>
          <p:nvPr/>
        </p:nvSpPr>
        <p:spPr>
          <a:xfrm>
            <a:off x="6153912" y="3017520"/>
            <a:ext cx="5486400" cy="219456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3017520"/>
            <a:ext cx="91440" cy="219456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91656" y="3145536"/>
            <a:ext cx="507492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THE MATH OF NRR (illustrative)</a:t>
            </a:r>
          </a:p>
        </p:txBody>
      </p:sp>
      <p:sp>
        <p:nvSpPr>
          <p:cNvPr id="28" name="TextBox 27"/>
          <p:cNvSpPr txBox="1"/>
          <p:nvPr/>
        </p:nvSpPr>
        <p:spPr>
          <a:xfrm>
            <a:off x="6391656" y="3621024"/>
            <a:ext cx="5029200" cy="1463040"/>
          </a:xfrm>
          <a:prstGeom prst="rect">
            <a:avLst/>
          </a:prstGeom>
          <a:noFill/>
        </p:spPr>
        <p:txBody>
          <a:bodyPr wrap="square" anchor="t" lIns="0" rIns="0" tIns="0" bIns="0">
            <a:normAutofit/>
          </a:bodyPr>
          <a:lstStyle/>
          <a:p>
            <a:pPr algn="l">
              <a:lnSpc>
                <a:spcPct val="105000"/>
              </a:lnSpc>
              <a:spcBef>
                <a:spcPts val="500"/>
              </a:spcBef>
            </a:pPr>
            <a:r>
              <a:rPr sz="1050" b="0" i="0">
                <a:solidFill>
                  <a:srgbClr val="E0F7F1"/>
                </a:solidFill>
                <a:latin typeface="Calibri"/>
              </a:rPr>
              <a:t>•  NRR &gt; 130% means the base grows before new logos</a:t>
            </a:r>
          </a:p>
          <a:p>
            <a:pPr algn="l">
              <a:lnSpc>
                <a:spcPct val="105000"/>
              </a:lnSpc>
              <a:spcBef>
                <a:spcPts val="500"/>
              </a:spcBef>
            </a:pPr>
            <a:r>
              <a:rPr sz="1050" b="0" i="0">
                <a:solidFill>
                  <a:srgbClr val="E0F7F1"/>
                </a:solidFill>
                <a:latin typeface="Calibri"/>
              </a:rPr>
              <a:t>•  A cohort can ~double in value over 24 months</a:t>
            </a:r>
          </a:p>
          <a:p>
            <a:pPr algn="l">
              <a:lnSpc>
                <a:spcPct val="105000"/>
              </a:lnSpc>
              <a:spcBef>
                <a:spcPts val="500"/>
              </a:spcBef>
            </a:pPr>
            <a:r>
              <a:rPr sz="1050" b="0" i="0">
                <a:solidFill>
                  <a:srgbClr val="E0F7F1"/>
                </a:solidFill>
                <a:latin typeface="Calibri"/>
              </a:rPr>
              <a:t>•  Expansion revenue carries near-zero incremental CAC</a:t>
            </a:r>
          </a:p>
          <a:p>
            <a:pPr algn="l">
              <a:lnSpc>
                <a:spcPct val="105000"/>
              </a:lnSpc>
              <a:spcBef>
                <a:spcPts val="500"/>
              </a:spcBef>
            </a:pPr>
            <a:r>
              <a:rPr sz="1050" b="0" i="0">
                <a:solidFill>
                  <a:srgbClr val="E0F7F1"/>
                </a:solidFill>
                <a:latin typeface="Calibri"/>
              </a:rPr>
              <a:t>•  Few logos + strong NRR = capital-efficient path to $5–10M</a:t>
            </a:r>
          </a:p>
        </p:txBody>
      </p:sp>
      <p:sp>
        <p:nvSpPr>
          <p:cNvPr id="29" name="Rounded Rectangle 28"/>
          <p:cNvSpPr/>
          <p:nvPr/>
        </p:nvSpPr>
        <p:spPr>
          <a:xfrm>
            <a:off x="548640" y="548640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548640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Land-and-expand is why the logo count stays small: each account compounds 3–5x, so growth comes mostly from within the installed base.</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6: Path to $5–10M</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40 / 46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Hire delivery pods, not an army — a senior core plus agent leverage covers many accounts</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Revenue per head rises as the reusable library matures  (illustrative)</a:t>
            </a:r>
          </a:p>
        </p:txBody>
      </p:sp>
      <p:sp>
        <p:nvSpPr>
          <p:cNvPr id="7" name="Rounded Rectangle 6"/>
          <p:cNvSpPr/>
          <p:nvPr/>
        </p:nvSpPr>
        <p:spPr>
          <a:xfrm>
            <a:off x="548640" y="1783080"/>
            <a:ext cx="237744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83080"/>
            <a:ext cx="219456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Founder / Principal</a:t>
            </a:r>
          </a:p>
        </p:txBody>
      </p:sp>
      <p:sp>
        <p:nvSpPr>
          <p:cNvPr id="9" name="TextBox 8"/>
          <p:cNvSpPr txBox="1"/>
          <p:nvPr/>
        </p:nvSpPr>
        <p:spPr>
          <a:xfrm>
            <a:off x="292608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0" name="Rounded Rectangle 9"/>
          <p:cNvSpPr/>
          <p:nvPr/>
        </p:nvSpPr>
        <p:spPr>
          <a:xfrm>
            <a:off x="3108960" y="1783080"/>
            <a:ext cx="237744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0" y="1783080"/>
            <a:ext cx="219456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Delivery Pod</a:t>
            </a:r>
          </a:p>
        </p:txBody>
      </p:sp>
      <p:sp>
        <p:nvSpPr>
          <p:cNvPr id="12" name="TextBox 11"/>
          <p:cNvSpPr txBox="1"/>
          <p:nvPr/>
        </p:nvSpPr>
        <p:spPr>
          <a:xfrm>
            <a:off x="5486400"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3" name="Rounded Rectangle 12"/>
          <p:cNvSpPr/>
          <p:nvPr/>
        </p:nvSpPr>
        <p:spPr>
          <a:xfrm>
            <a:off x="5669279" y="1783080"/>
            <a:ext cx="237744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60719" y="1783080"/>
            <a:ext cx="219456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Delivery Pod</a:t>
            </a:r>
          </a:p>
        </p:txBody>
      </p:sp>
      <p:sp>
        <p:nvSpPr>
          <p:cNvPr id="15" name="TextBox 14"/>
          <p:cNvSpPr txBox="1"/>
          <p:nvPr/>
        </p:nvSpPr>
        <p:spPr>
          <a:xfrm>
            <a:off x="8046719" y="1783080"/>
            <a:ext cx="182880" cy="868680"/>
          </a:xfrm>
          <a:prstGeom prst="rect">
            <a:avLst/>
          </a:prstGeom>
          <a:noFill/>
        </p:spPr>
        <p:txBody>
          <a:bodyPr wrap="square" anchor="ctr" lIns="0" rIns="0" tIns="0" bIns="0">
            <a:noAutofit/>
          </a:bodyPr>
          <a:lstStyle/>
          <a:p>
            <a:pPr algn="ctr">
              <a:lnSpc>
                <a:spcPct val="105000"/>
              </a:lnSpc>
              <a:spcBef>
                <a:spcPts val="0"/>
              </a:spcBef>
            </a:pPr>
            <a:r>
              <a:rPr sz="1800" b="1" i="0">
                <a:solidFill>
                  <a:srgbClr val="00C9A7"/>
                </a:solidFill>
                <a:latin typeface="Calibri"/>
              </a:rPr>
              <a:t>→</a:t>
            </a:r>
          </a:p>
        </p:txBody>
      </p:sp>
      <p:sp>
        <p:nvSpPr>
          <p:cNvPr id="16" name="Rounded Rectangle 15"/>
          <p:cNvSpPr/>
          <p:nvPr/>
        </p:nvSpPr>
        <p:spPr>
          <a:xfrm>
            <a:off x="8229599" y="1783080"/>
            <a:ext cx="2377440" cy="868680"/>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39" y="1783080"/>
            <a:ext cx="2194560" cy="868680"/>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 Pods as ARR grows</a:t>
            </a:r>
          </a:p>
        </p:txBody>
      </p:sp>
      <p:sp>
        <p:nvSpPr>
          <p:cNvPr id="18" name="Rounded Rectangle 17"/>
          <p:cNvSpPr/>
          <p:nvPr/>
        </p:nvSpPr>
        <p:spPr>
          <a:xfrm>
            <a:off x="548640" y="2926080"/>
            <a:ext cx="5440680" cy="22860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2926080"/>
            <a:ext cx="91440" cy="2286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3054096"/>
            <a:ext cx="502920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A1628"/>
                </a:solidFill>
                <a:latin typeface="Calibri"/>
              </a:rPr>
              <a:t>THE POD MODEL</a:t>
            </a:r>
          </a:p>
        </p:txBody>
      </p:sp>
      <p:sp>
        <p:nvSpPr>
          <p:cNvPr id="21" name="TextBox 20"/>
          <p:cNvSpPr txBox="1"/>
          <p:nvPr/>
        </p:nvSpPr>
        <p:spPr>
          <a:xfrm>
            <a:off x="786384" y="3529584"/>
            <a:ext cx="4983480" cy="1554480"/>
          </a:xfrm>
          <a:prstGeom prst="rect">
            <a:avLst/>
          </a:prstGeom>
          <a:noFill/>
        </p:spPr>
        <p:txBody>
          <a:bodyPr wrap="square" anchor="t" lIns="0" rIns="0" tIns="0" bIns="0">
            <a:normAutofit/>
          </a:bodyPr>
          <a:lstStyle/>
          <a:p>
            <a:pPr algn="l">
              <a:lnSpc>
                <a:spcPct val="105000"/>
              </a:lnSpc>
              <a:spcBef>
                <a:spcPts val="500"/>
              </a:spcBef>
            </a:pPr>
            <a:r>
              <a:rPr sz="1050" b="0" i="0">
                <a:solidFill>
                  <a:srgbClr val="1B2B3C"/>
                </a:solidFill>
                <a:latin typeface="Calibri"/>
              </a:rPr>
              <a:t>•  Pod = 1–2 senior engineers + the agent/MCP library</a:t>
            </a:r>
          </a:p>
          <a:p>
            <a:pPr algn="l">
              <a:lnSpc>
                <a:spcPct val="105000"/>
              </a:lnSpc>
              <a:spcBef>
                <a:spcPts val="500"/>
              </a:spcBef>
            </a:pPr>
            <a:r>
              <a:rPr sz="1050" b="0" i="0">
                <a:solidFill>
                  <a:srgbClr val="1B2B3C"/>
                </a:solidFill>
                <a:latin typeface="Calibri"/>
              </a:rPr>
              <a:t>•  Each pod runs several accounts (leverage, not 1:1)</a:t>
            </a:r>
          </a:p>
          <a:p>
            <a:pPr algn="l">
              <a:lnSpc>
                <a:spcPct val="105000"/>
              </a:lnSpc>
              <a:spcBef>
                <a:spcPts val="500"/>
              </a:spcBef>
            </a:pPr>
            <a:r>
              <a:rPr sz="1050" b="0" i="0">
                <a:solidFill>
                  <a:srgbClr val="1B2B3C"/>
                </a:solidFill>
                <a:latin typeface="Calibri"/>
              </a:rPr>
              <a:t>•  Productized scope lets mid-level staff execute</a:t>
            </a:r>
          </a:p>
          <a:p>
            <a:pPr algn="l">
              <a:lnSpc>
                <a:spcPct val="105000"/>
              </a:lnSpc>
              <a:spcBef>
                <a:spcPts val="500"/>
              </a:spcBef>
            </a:pPr>
            <a:r>
              <a:rPr sz="1050" b="0" i="0">
                <a:solidFill>
                  <a:srgbClr val="1B2B3C"/>
                </a:solidFill>
                <a:latin typeface="Calibri"/>
              </a:rPr>
              <a:t>•  Add a pod only when recurring ARR justifies it</a:t>
            </a:r>
          </a:p>
        </p:txBody>
      </p:sp>
      <p:sp>
        <p:nvSpPr>
          <p:cNvPr id="22" name="Rounded Rectangle 21"/>
          <p:cNvSpPr/>
          <p:nvPr/>
        </p:nvSpPr>
        <p:spPr>
          <a:xfrm>
            <a:off x="6153912" y="2926080"/>
            <a:ext cx="5486400" cy="22860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53912" y="2926080"/>
            <a:ext cx="91440" cy="228600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1656" y="3054096"/>
            <a:ext cx="5074920" cy="411480"/>
          </a:xfrm>
          <a:prstGeom prst="rect">
            <a:avLst/>
          </a:prstGeom>
          <a:noFill/>
        </p:spPr>
        <p:txBody>
          <a:bodyPr wrap="square" anchor="t" lIns="0" rIns="0" tIns="0" bIns="0">
            <a:normAutofit/>
          </a:bodyPr>
          <a:lstStyle/>
          <a:p>
            <a:pPr algn="l">
              <a:lnSpc>
                <a:spcPct val="105000"/>
              </a:lnSpc>
              <a:spcBef>
                <a:spcPts val="0"/>
              </a:spcBef>
            </a:pPr>
            <a:r>
              <a:rPr sz="1300" b="1" i="0">
                <a:solidFill>
                  <a:srgbClr val="00C9A7"/>
                </a:solidFill>
                <a:latin typeface="Calibri"/>
              </a:rPr>
              <a:t>HEADCOUNT RAMP (illustrative)</a:t>
            </a:r>
          </a:p>
        </p:txBody>
      </p:sp>
      <p:sp>
        <p:nvSpPr>
          <p:cNvPr id="25" name="TextBox 24"/>
          <p:cNvSpPr txBox="1"/>
          <p:nvPr/>
        </p:nvSpPr>
        <p:spPr>
          <a:xfrm>
            <a:off x="6391656" y="3529584"/>
            <a:ext cx="5029200" cy="1554480"/>
          </a:xfrm>
          <a:prstGeom prst="rect">
            <a:avLst/>
          </a:prstGeom>
          <a:noFill/>
        </p:spPr>
        <p:txBody>
          <a:bodyPr wrap="square" anchor="t" lIns="0" rIns="0" tIns="0" bIns="0">
            <a:normAutofit/>
          </a:bodyPr>
          <a:lstStyle/>
          <a:p>
            <a:pPr algn="l">
              <a:lnSpc>
                <a:spcPct val="105000"/>
              </a:lnSpc>
              <a:spcBef>
                <a:spcPts val="500"/>
              </a:spcBef>
            </a:pPr>
            <a:r>
              <a:rPr sz="1050" b="0" i="0">
                <a:solidFill>
                  <a:srgbClr val="E0F7F1"/>
                </a:solidFill>
                <a:latin typeface="Calibri"/>
              </a:rPr>
              <a:t>•  Y1: founder + 2–3 (prove + first library)</a:t>
            </a:r>
          </a:p>
          <a:p>
            <a:pPr algn="l">
              <a:lnSpc>
                <a:spcPct val="105000"/>
              </a:lnSpc>
              <a:spcBef>
                <a:spcPts val="500"/>
              </a:spcBef>
            </a:pPr>
            <a:r>
              <a:rPr sz="1050" b="0" i="0">
                <a:solidFill>
                  <a:srgbClr val="E0F7F1"/>
                </a:solidFill>
                <a:latin typeface="Calibri"/>
              </a:rPr>
              <a:t>•  Y2: ~6–10 (2–3 pods + GTM/ops)</a:t>
            </a:r>
          </a:p>
          <a:p>
            <a:pPr algn="l">
              <a:lnSpc>
                <a:spcPct val="105000"/>
              </a:lnSpc>
              <a:spcBef>
                <a:spcPts val="500"/>
              </a:spcBef>
            </a:pPr>
            <a:r>
              <a:rPr sz="1050" b="0" i="0">
                <a:solidFill>
                  <a:srgbClr val="E0F7F1"/>
                </a:solidFill>
                <a:latin typeface="Calibri"/>
              </a:rPr>
              <a:t>•  Y3: ~15–25 to support $5–10M</a:t>
            </a:r>
          </a:p>
          <a:p>
            <a:pPr algn="l">
              <a:lnSpc>
                <a:spcPct val="105000"/>
              </a:lnSpc>
              <a:spcBef>
                <a:spcPts val="500"/>
              </a:spcBef>
            </a:pPr>
            <a:r>
              <a:rPr sz="1050" b="0" i="0">
                <a:solidFill>
                  <a:srgbClr val="E0F7F1"/>
                </a:solidFill>
                <a:latin typeface="Calibri"/>
              </a:rPr>
              <a:t>•  Revenue/head trends up as reuse compounds</a:t>
            </a:r>
          </a:p>
        </p:txBody>
      </p:sp>
      <p:sp>
        <p:nvSpPr>
          <p:cNvPr id="26" name="Rounded Rectangle 25"/>
          <p:cNvSpPr/>
          <p:nvPr/>
        </p:nvSpPr>
        <p:spPr>
          <a:xfrm>
            <a:off x="548640" y="5486400"/>
            <a:ext cx="11094415" cy="86868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486400"/>
            <a:ext cx="10637215" cy="86868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Lean by design: the agent library is the force multiplier, so headcount grows slower than revenue — the opposite of a billable-hours SI.</a:t>
            </a:r>
          </a:p>
        </p:txBody>
      </p:sp>
      <p:sp>
        <p:nvSpPr>
          <p:cNvPr id="28" name="TextBox 2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6: Path to $5–10M</a:t>
            </a:r>
          </a:p>
        </p:txBody>
      </p:sp>
      <p:sp>
        <p:nvSpPr>
          <p:cNvPr id="29" name="TextBox 2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41 / 46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Unit economics: software-trending gross margin, fast payback, LTV/CAC that funds its own growth</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An illustrative model — the shape (recurring base + rising margin) is the point</a:t>
            </a:r>
          </a:p>
        </p:txBody>
      </p:sp>
      <p:pic>
        <p:nvPicPr>
          <p:cNvPr id="7" name="Picture 6" descr="chart_arr_ramp.png"/>
          <p:cNvPicPr>
            <a:picLocks noChangeAspect="1"/>
          </p:cNvPicPr>
          <p:nvPr/>
        </p:nvPicPr>
        <p:blipFill>
          <a:blip r:embed="rId2"/>
          <a:stretch>
            <a:fillRect/>
          </a:stretch>
        </p:blipFill>
        <p:spPr>
          <a:xfrm>
            <a:off x="548640" y="1645920"/>
            <a:ext cx="5760720" cy="4206240"/>
          </a:xfrm>
          <a:prstGeom prst="rect">
            <a:avLst/>
          </a:prstGeom>
        </p:spPr>
      </p:pic>
      <p:sp>
        <p:nvSpPr>
          <p:cNvPr id="8" name="Rounded Rectangle 7"/>
          <p:cNvSpPr/>
          <p:nvPr/>
        </p:nvSpPr>
        <p:spPr>
          <a:xfrm>
            <a:off x="6583680" y="1691640"/>
            <a:ext cx="5029200" cy="960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0" y="1691640"/>
            <a:ext cx="91440" cy="9601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1801368"/>
            <a:ext cx="466344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GROSS MARGIN</a:t>
            </a:r>
          </a:p>
        </p:txBody>
      </p:sp>
      <p:sp>
        <p:nvSpPr>
          <p:cNvPr id="11" name="TextBox 10"/>
          <p:cNvSpPr txBox="1"/>
          <p:nvPr/>
        </p:nvSpPr>
        <p:spPr>
          <a:xfrm>
            <a:off x="6812280" y="2148840"/>
            <a:ext cx="466344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~50–55% early → 65–70%+ as the reusable library matures</a:t>
            </a:r>
          </a:p>
        </p:txBody>
      </p:sp>
      <p:sp>
        <p:nvSpPr>
          <p:cNvPr id="12" name="Rounded Rectangle 11"/>
          <p:cNvSpPr/>
          <p:nvPr/>
        </p:nvSpPr>
        <p:spPr>
          <a:xfrm>
            <a:off x="6583680" y="2752344"/>
            <a:ext cx="5029200" cy="960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0" y="2752344"/>
            <a:ext cx="91440" cy="9601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2280" y="2862072"/>
            <a:ext cx="466344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CAC PAYBACK</a:t>
            </a:r>
          </a:p>
        </p:txBody>
      </p:sp>
      <p:sp>
        <p:nvSpPr>
          <p:cNvPr id="15" name="TextBox 14"/>
          <p:cNvSpPr txBox="1"/>
          <p:nvPr/>
        </p:nvSpPr>
        <p:spPr>
          <a:xfrm>
            <a:off x="6812280" y="3209544"/>
            <a:ext cx="466344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&lt; 6–9 months (trigger-led + founder/referral motion)</a:t>
            </a:r>
          </a:p>
        </p:txBody>
      </p:sp>
      <p:sp>
        <p:nvSpPr>
          <p:cNvPr id="16" name="Rounded Rectangle 15"/>
          <p:cNvSpPr/>
          <p:nvPr/>
        </p:nvSpPr>
        <p:spPr>
          <a:xfrm>
            <a:off x="6583680" y="3813048"/>
            <a:ext cx="5029200" cy="960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0" y="3813048"/>
            <a:ext cx="91440" cy="9601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12280" y="3922776"/>
            <a:ext cx="466344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LTV / CAC</a:t>
            </a:r>
          </a:p>
        </p:txBody>
      </p:sp>
      <p:sp>
        <p:nvSpPr>
          <p:cNvPr id="19" name="TextBox 18"/>
          <p:cNvSpPr txBox="1"/>
          <p:nvPr/>
        </p:nvSpPr>
        <p:spPr>
          <a:xfrm>
            <a:off x="6812280" y="4270248"/>
            <a:ext cx="466344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&gt; 4–5x, driven by NRR&gt;130% and low churn (embedded in SoR)</a:t>
            </a:r>
          </a:p>
        </p:txBody>
      </p:sp>
      <p:sp>
        <p:nvSpPr>
          <p:cNvPr id="20" name="Rounded Rectangle 19"/>
          <p:cNvSpPr/>
          <p:nvPr/>
        </p:nvSpPr>
        <p:spPr>
          <a:xfrm>
            <a:off x="6583680" y="4873752"/>
            <a:ext cx="5029200" cy="960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0" y="4873752"/>
            <a:ext cx="91440" cy="9601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12280" y="4983480"/>
            <a:ext cx="4663440" cy="320040"/>
          </a:xfrm>
          <a:prstGeom prst="rect">
            <a:avLst/>
          </a:prstGeom>
          <a:noFill/>
        </p:spPr>
        <p:txBody>
          <a:bodyPr wrap="square" anchor="t" lIns="0" rIns="0" tIns="0" bIns="0">
            <a:noAutofit/>
          </a:bodyPr>
          <a:lstStyle/>
          <a:p>
            <a:pPr algn="l">
              <a:lnSpc>
                <a:spcPct val="105000"/>
              </a:lnSpc>
              <a:spcBef>
                <a:spcPts val="0"/>
              </a:spcBef>
            </a:pPr>
            <a:r>
              <a:rPr sz="1200" b="1" i="0">
                <a:solidFill>
                  <a:srgbClr val="009B82"/>
                </a:solidFill>
                <a:latin typeface="Calibri"/>
              </a:rPr>
              <a:t>MIX</a:t>
            </a:r>
          </a:p>
        </p:txBody>
      </p:sp>
      <p:sp>
        <p:nvSpPr>
          <p:cNvPr id="23" name="TextBox 22"/>
          <p:cNvSpPr txBox="1"/>
          <p:nvPr/>
        </p:nvSpPr>
        <p:spPr>
          <a:xfrm>
            <a:off x="6812280" y="5330952"/>
            <a:ext cx="4663440" cy="457200"/>
          </a:xfrm>
          <a:prstGeom prst="rect">
            <a:avLst/>
          </a:prstGeom>
          <a:noFill/>
        </p:spPr>
        <p:txBody>
          <a:bodyPr wrap="square" anchor="t" lIns="0" rIns="0" tIns="0" bIns="0">
            <a:normAutofit/>
          </a:bodyPr>
          <a:lstStyle/>
          <a:p>
            <a:pPr algn="l">
              <a:lnSpc>
                <a:spcPct val="105000"/>
              </a:lnSpc>
              <a:spcBef>
                <a:spcPts val="0"/>
              </a:spcBef>
            </a:pPr>
            <a:r>
              <a:rPr sz="1100" b="0" i="0">
                <a:solidFill>
                  <a:srgbClr val="1B2B3C"/>
                </a:solidFill>
                <a:latin typeface="Calibri"/>
              </a:rPr>
              <a:t>~70% recurring + ~30% build → durable, growing ARR</a:t>
            </a:r>
          </a:p>
        </p:txBody>
      </p:sp>
      <p:sp>
        <p:nvSpPr>
          <p:cNvPr id="24" name="Rounded Rectangle 23"/>
          <p:cNvSpPr/>
          <p:nvPr/>
        </p:nvSpPr>
        <p:spPr>
          <a:xfrm>
            <a:off x="548640" y="5989320"/>
            <a:ext cx="11094415" cy="45720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5989320"/>
            <a:ext cx="10637215" cy="457200"/>
          </a:xfrm>
          <a:prstGeom prst="rect">
            <a:avLst/>
          </a:prstGeom>
          <a:noFill/>
        </p:spPr>
        <p:txBody>
          <a:bodyPr wrap="square" anchor="ctr" lIns="0" rIns="0" tIns="0" bIns="0">
            <a:normAutofit/>
          </a:bodyPr>
          <a:lstStyle/>
          <a:p>
            <a:pPr algn="l">
              <a:lnSpc>
                <a:spcPct val="105000"/>
              </a:lnSpc>
              <a:spcBef>
                <a:spcPts val="0"/>
              </a:spcBef>
            </a:pPr>
            <a:r>
              <a:rPr sz="1200" b="1" i="0">
                <a:solidFill>
                  <a:srgbClr val="FFFFFF"/>
                </a:solidFill>
                <a:latin typeface="Calibri"/>
              </a:rPr>
              <a:t>Assumptions (illustrative): ~$120k avg account/yr · NRR&gt;130% · ~40–50 accounts · margin rising with library reuse.</a:t>
            </a:r>
          </a:p>
        </p:txBody>
      </p:sp>
      <p:sp>
        <p:nvSpPr>
          <p:cNvPr id="26" name="TextBox 25"/>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6: Path to $5–10M</a:t>
            </a:r>
          </a:p>
        </p:txBody>
      </p:sp>
      <p:sp>
        <p:nvSpPr>
          <p:cNvPr id="27" name="TextBox 26"/>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42 / 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Execution roadmap: prove → productize → expand → scale, in four phases to $5–10M</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Each phase has a single objective and a clear exit milestone  (illustrative)</a:t>
            </a:r>
          </a:p>
        </p:txBody>
      </p:sp>
      <p:sp>
        <p:nvSpPr>
          <p:cNvPr id="7" name="Rounded Rectangle 6"/>
          <p:cNvSpPr/>
          <p:nvPr/>
        </p:nvSpPr>
        <p:spPr>
          <a:xfrm>
            <a:off x="548640" y="1783080"/>
            <a:ext cx="2606040" cy="32004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783080"/>
            <a:ext cx="2606040" cy="45720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783080"/>
            <a:ext cx="2331720" cy="457200"/>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Calibri"/>
              </a:rPr>
              <a:t>PHASE 1 · 0–6 mo  PROVE</a:t>
            </a:r>
          </a:p>
        </p:txBody>
      </p:sp>
      <p:sp>
        <p:nvSpPr>
          <p:cNvPr id="10" name="TextBox 9"/>
          <p:cNvSpPr txBox="1"/>
          <p:nvPr/>
        </p:nvSpPr>
        <p:spPr>
          <a:xfrm>
            <a:off x="731520" y="2377440"/>
            <a:ext cx="2286000" cy="246888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Land first BUILD win + 2–3 pilots</a:t>
            </a:r>
          </a:p>
          <a:p>
            <a:pPr algn="l">
              <a:lnSpc>
                <a:spcPct val="106000"/>
              </a:lnSpc>
              <a:spcBef>
                <a:spcPts val="700"/>
              </a:spcBef>
            </a:pPr>
            <a:r>
              <a:rPr sz="1050" b="0" i="0">
                <a:solidFill>
                  <a:srgbClr val="1B2B3C"/>
                </a:solidFill>
                <a:latin typeface="Calibri"/>
              </a:rPr>
              <a:t>•  Build the first reusable library</a:t>
            </a:r>
          </a:p>
          <a:p>
            <a:pPr algn="l">
              <a:lnSpc>
                <a:spcPct val="106000"/>
              </a:lnSpc>
              <a:spcBef>
                <a:spcPts val="700"/>
              </a:spcBef>
            </a:pPr>
            <a:r>
              <a:rPr sz="1050" b="0" i="0">
                <a:solidFill>
                  <a:srgbClr val="1B2B3C"/>
                </a:solidFill>
                <a:latin typeface="Calibri"/>
              </a:rPr>
              <a:t>•  Exit: 3–5 reference logos</a:t>
            </a:r>
          </a:p>
        </p:txBody>
      </p:sp>
      <p:sp>
        <p:nvSpPr>
          <p:cNvPr id="11" name="TextBox 10"/>
          <p:cNvSpPr txBox="1"/>
          <p:nvPr/>
        </p:nvSpPr>
        <p:spPr>
          <a:xfrm>
            <a:off x="3154680" y="3108960"/>
            <a:ext cx="182880" cy="548640"/>
          </a:xfrm>
          <a:prstGeom prst="rect">
            <a:avLst/>
          </a:prstGeom>
          <a:noFill/>
        </p:spPr>
        <p:txBody>
          <a:bodyPr wrap="square" anchor="t" lIns="0" rIns="0" tIns="0" bIns="0">
            <a:noAutofit/>
          </a:bodyPr>
          <a:lstStyle/>
          <a:p>
            <a:pPr algn="ctr">
              <a:lnSpc>
                <a:spcPct val="105000"/>
              </a:lnSpc>
              <a:spcBef>
                <a:spcPts val="0"/>
              </a:spcBef>
            </a:pPr>
            <a:r>
              <a:rPr sz="1800" b="1" i="0">
                <a:solidFill>
                  <a:srgbClr val="00C9A7"/>
                </a:solidFill>
                <a:latin typeface="Calibri"/>
              </a:rPr>
              <a:t>→</a:t>
            </a:r>
          </a:p>
        </p:txBody>
      </p:sp>
      <p:sp>
        <p:nvSpPr>
          <p:cNvPr id="12" name="Rounded Rectangle 11"/>
          <p:cNvSpPr/>
          <p:nvPr/>
        </p:nvSpPr>
        <p:spPr>
          <a:xfrm>
            <a:off x="3319272" y="1783080"/>
            <a:ext cx="2606040" cy="32004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19272" y="1783080"/>
            <a:ext cx="2606040" cy="45720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56432" y="1783080"/>
            <a:ext cx="2331720" cy="457200"/>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Calibri"/>
              </a:rPr>
              <a:t>PHASE 2 · 6–12 mo  PRODUCTIZE</a:t>
            </a:r>
          </a:p>
        </p:txBody>
      </p:sp>
      <p:sp>
        <p:nvSpPr>
          <p:cNvPr id="15" name="TextBox 14"/>
          <p:cNvSpPr txBox="1"/>
          <p:nvPr/>
        </p:nvSpPr>
        <p:spPr>
          <a:xfrm>
            <a:off x="3502152" y="2377440"/>
            <a:ext cx="2286000" cy="246888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Harden the 3 service lines + governance</a:t>
            </a:r>
          </a:p>
          <a:p>
            <a:pPr algn="l">
              <a:lnSpc>
                <a:spcPct val="106000"/>
              </a:lnSpc>
              <a:spcBef>
                <a:spcPts val="700"/>
              </a:spcBef>
            </a:pPr>
            <a:r>
              <a:rPr sz="1050" b="0" i="0">
                <a:solidFill>
                  <a:srgbClr val="1B2B3C"/>
                </a:solidFill>
                <a:latin typeface="Calibri"/>
              </a:rPr>
              <a:t>•  Templatize top use cases</a:t>
            </a:r>
          </a:p>
          <a:p>
            <a:pPr algn="l">
              <a:lnSpc>
                <a:spcPct val="106000"/>
              </a:lnSpc>
              <a:spcBef>
                <a:spcPts val="700"/>
              </a:spcBef>
            </a:pPr>
            <a:r>
              <a:rPr sz="1050" b="0" i="0">
                <a:solidFill>
                  <a:srgbClr val="1B2B3C"/>
                </a:solidFill>
                <a:latin typeface="Calibri"/>
              </a:rPr>
              <a:t>•  Exit: repeatable margins, ~$1M ARR</a:t>
            </a:r>
          </a:p>
        </p:txBody>
      </p:sp>
      <p:sp>
        <p:nvSpPr>
          <p:cNvPr id="16" name="TextBox 15"/>
          <p:cNvSpPr txBox="1"/>
          <p:nvPr/>
        </p:nvSpPr>
        <p:spPr>
          <a:xfrm>
            <a:off x="5925312" y="3108960"/>
            <a:ext cx="182880" cy="548640"/>
          </a:xfrm>
          <a:prstGeom prst="rect">
            <a:avLst/>
          </a:prstGeom>
          <a:noFill/>
        </p:spPr>
        <p:txBody>
          <a:bodyPr wrap="square" anchor="t" lIns="0" rIns="0" tIns="0" bIns="0">
            <a:noAutofit/>
          </a:bodyPr>
          <a:lstStyle/>
          <a:p>
            <a:pPr algn="ctr">
              <a:lnSpc>
                <a:spcPct val="105000"/>
              </a:lnSpc>
              <a:spcBef>
                <a:spcPts val="0"/>
              </a:spcBef>
            </a:pPr>
            <a:r>
              <a:rPr sz="1800" b="1" i="0">
                <a:solidFill>
                  <a:srgbClr val="00C9A7"/>
                </a:solidFill>
                <a:latin typeface="Calibri"/>
              </a:rPr>
              <a:t>→</a:t>
            </a:r>
          </a:p>
        </p:txBody>
      </p:sp>
      <p:sp>
        <p:nvSpPr>
          <p:cNvPr id="17" name="Rounded Rectangle 16"/>
          <p:cNvSpPr/>
          <p:nvPr/>
        </p:nvSpPr>
        <p:spPr>
          <a:xfrm>
            <a:off x="6089904" y="1783080"/>
            <a:ext cx="2606040" cy="320040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089904" y="1783080"/>
            <a:ext cx="2606040" cy="457200"/>
          </a:xfrm>
          <a:prstGeom prst="roundRect">
            <a:avLst>
              <a:gd name="adj" fmla="val 5000"/>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27064" y="1783080"/>
            <a:ext cx="2331720" cy="457200"/>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Calibri"/>
              </a:rPr>
              <a:t>PHASE 3 · 12–24 mo  EXPAND</a:t>
            </a:r>
          </a:p>
        </p:txBody>
      </p:sp>
      <p:sp>
        <p:nvSpPr>
          <p:cNvPr id="20" name="TextBox 19"/>
          <p:cNvSpPr txBox="1"/>
          <p:nvPr/>
        </p:nvSpPr>
        <p:spPr>
          <a:xfrm>
            <a:off x="6272784" y="2377440"/>
            <a:ext cx="2286000" cy="246888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Land-and-expand accounts (NRR&gt;130%)</a:t>
            </a:r>
          </a:p>
          <a:p>
            <a:pPr algn="l">
              <a:lnSpc>
                <a:spcPct val="106000"/>
              </a:lnSpc>
              <a:spcBef>
                <a:spcPts val="700"/>
              </a:spcBef>
            </a:pPr>
            <a:r>
              <a:rPr sz="1050" b="0" i="0">
                <a:solidFill>
                  <a:srgbClr val="1B2B3C"/>
                </a:solidFill>
                <a:latin typeface="Calibri"/>
              </a:rPr>
              <a:t>•  Add 2–3 delivery pods + GTM</a:t>
            </a:r>
          </a:p>
          <a:p>
            <a:pPr algn="l">
              <a:lnSpc>
                <a:spcPct val="106000"/>
              </a:lnSpc>
              <a:spcBef>
                <a:spcPts val="700"/>
              </a:spcBef>
            </a:pPr>
            <a:r>
              <a:rPr sz="1050" b="0" i="0">
                <a:solidFill>
                  <a:srgbClr val="1B2B3C"/>
                </a:solidFill>
                <a:latin typeface="Calibri"/>
              </a:rPr>
              <a:t>•  Exit: ~$2.5–4M ARR</a:t>
            </a:r>
          </a:p>
        </p:txBody>
      </p:sp>
      <p:sp>
        <p:nvSpPr>
          <p:cNvPr id="21" name="TextBox 20"/>
          <p:cNvSpPr txBox="1"/>
          <p:nvPr/>
        </p:nvSpPr>
        <p:spPr>
          <a:xfrm>
            <a:off x="8695944" y="3108960"/>
            <a:ext cx="182880" cy="548640"/>
          </a:xfrm>
          <a:prstGeom prst="rect">
            <a:avLst/>
          </a:prstGeom>
          <a:noFill/>
        </p:spPr>
        <p:txBody>
          <a:bodyPr wrap="square" anchor="t" lIns="0" rIns="0" tIns="0" bIns="0">
            <a:noAutofit/>
          </a:bodyPr>
          <a:lstStyle/>
          <a:p>
            <a:pPr algn="ctr">
              <a:lnSpc>
                <a:spcPct val="105000"/>
              </a:lnSpc>
              <a:spcBef>
                <a:spcPts val="0"/>
              </a:spcBef>
            </a:pPr>
            <a:r>
              <a:rPr sz="1800" b="1" i="0">
                <a:solidFill>
                  <a:srgbClr val="00C9A7"/>
                </a:solidFill>
                <a:latin typeface="Calibri"/>
              </a:rPr>
              <a:t>→</a:t>
            </a:r>
          </a:p>
        </p:txBody>
      </p:sp>
      <p:sp>
        <p:nvSpPr>
          <p:cNvPr id="22" name="Rounded Rectangle 21"/>
          <p:cNvSpPr/>
          <p:nvPr/>
        </p:nvSpPr>
        <p:spPr>
          <a:xfrm>
            <a:off x="8860536" y="1783080"/>
            <a:ext cx="2606040" cy="320040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860536" y="1783080"/>
            <a:ext cx="2606040" cy="457200"/>
          </a:xfrm>
          <a:prstGeom prst="roundRect">
            <a:avLst>
              <a:gd name="adj" fmla="val 5000"/>
            </a:avLst>
          </a:prstGeom>
          <a:solidFill>
            <a:srgbClr val="FFB8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97696" y="1783080"/>
            <a:ext cx="2331720" cy="457200"/>
          </a:xfrm>
          <a:prstGeom prst="rect">
            <a:avLst/>
          </a:prstGeom>
          <a:noFill/>
        </p:spPr>
        <p:txBody>
          <a:bodyPr wrap="square" anchor="ctr" lIns="0" rIns="0" tIns="0" bIns="0">
            <a:normAutofit/>
          </a:bodyPr>
          <a:lstStyle/>
          <a:p>
            <a:pPr algn="l">
              <a:lnSpc>
                <a:spcPct val="105000"/>
              </a:lnSpc>
              <a:spcBef>
                <a:spcPts val="0"/>
              </a:spcBef>
            </a:pPr>
            <a:r>
              <a:rPr sz="1050" b="1" i="0">
                <a:solidFill>
                  <a:srgbClr val="0A1628"/>
                </a:solidFill>
                <a:latin typeface="Calibri"/>
              </a:rPr>
              <a:t>PHASE 4 · 24–36 mo  SCALE</a:t>
            </a:r>
          </a:p>
        </p:txBody>
      </p:sp>
      <p:sp>
        <p:nvSpPr>
          <p:cNvPr id="25" name="TextBox 24"/>
          <p:cNvSpPr txBox="1"/>
          <p:nvPr/>
        </p:nvSpPr>
        <p:spPr>
          <a:xfrm>
            <a:off x="9043416" y="2377440"/>
            <a:ext cx="2286000" cy="246888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Vertical playbooks + partner channel</a:t>
            </a:r>
          </a:p>
          <a:p>
            <a:pPr algn="l">
              <a:lnSpc>
                <a:spcPct val="106000"/>
              </a:lnSpc>
              <a:spcBef>
                <a:spcPts val="700"/>
              </a:spcBef>
            </a:pPr>
            <a:r>
              <a:rPr sz="1050" b="0" i="0">
                <a:solidFill>
                  <a:srgbClr val="E0F7F1"/>
                </a:solidFill>
                <a:latin typeface="Calibri"/>
              </a:rPr>
              <a:t>•  Scale pods behind ARR</a:t>
            </a:r>
          </a:p>
          <a:p>
            <a:pPr algn="l">
              <a:lnSpc>
                <a:spcPct val="106000"/>
              </a:lnSpc>
              <a:spcBef>
                <a:spcPts val="700"/>
              </a:spcBef>
            </a:pPr>
            <a:r>
              <a:rPr sz="1050" b="0" i="0">
                <a:solidFill>
                  <a:srgbClr val="E0F7F1"/>
                </a:solidFill>
                <a:latin typeface="Calibri"/>
              </a:rPr>
              <a:t>•  Exit: $5–10M ARR</a:t>
            </a:r>
          </a:p>
        </p:txBody>
      </p:sp>
      <p:sp>
        <p:nvSpPr>
          <p:cNvPr id="26" name="Rounded Rectangle 25"/>
          <p:cNvSpPr/>
          <p:nvPr/>
        </p:nvSpPr>
        <p:spPr>
          <a:xfrm>
            <a:off x="548640" y="5212080"/>
            <a:ext cx="11094415" cy="822960"/>
          </a:xfrm>
          <a:prstGeom prst="roundRect">
            <a:avLst>
              <a:gd name="adj" fmla="val 3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212080"/>
            <a:ext cx="10637215" cy="822960"/>
          </a:xfrm>
          <a:prstGeom prst="rect">
            <a:avLst/>
          </a:prstGeom>
          <a:noFill/>
        </p:spPr>
        <p:txBody>
          <a:bodyPr wrap="square" anchor="ctr" lIns="0" rIns="0" tIns="0" bIns="0">
            <a:normAutofit/>
          </a:bodyPr>
          <a:lstStyle/>
          <a:p>
            <a:pPr algn="l">
              <a:lnSpc>
                <a:spcPct val="105000"/>
              </a:lnSpc>
              <a:spcBef>
                <a:spcPts val="0"/>
              </a:spcBef>
            </a:pPr>
            <a:r>
              <a:rPr sz="1350" b="1" i="0">
                <a:solidFill>
                  <a:srgbClr val="FFFFFF"/>
                </a:solidFill>
                <a:latin typeface="Calibri"/>
              </a:rPr>
              <a:t>Prove delivery → productize for margin → expand the base → scale behind ARR. Disciplined, demand-led, and capital-efficient at every phase.</a:t>
            </a:r>
          </a:p>
        </p:txBody>
      </p:sp>
      <p:sp>
        <p:nvSpPr>
          <p:cNvPr id="28" name="TextBox 27"/>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6: Path to $5–10M</a:t>
            </a:r>
          </a:p>
        </p:txBody>
      </p:sp>
      <p:sp>
        <p:nvSpPr>
          <p:cNvPr id="29" name="TextBox 28"/>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43 / 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
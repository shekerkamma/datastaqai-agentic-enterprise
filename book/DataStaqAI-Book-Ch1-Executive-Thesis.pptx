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document is a strategy brief, not a product pitch. Its job is to establish, in eight chapters, why a done-for-you AI engineering firm is positioned to capture disproportionate value as enterprises move from software-assisted workflows to AI-orchestrated ones. Open on the central claim: the enterprise software era organised work around seats — humans operating tools. The agentic era reorganises work around agents that operate the tools on the human's behalf. That is not a feature upgrade; it is a change in who, or what, does the orchestration. The strategic question every operator now faces is where the value accrues in that shift. Our thesis is that it does not accrue primarily to the foundation model (rapidly commoditising), nor to the legacy per-seat platform (defending, not disrupting). It accrues to whoever can deliver a working agent wired into the customer's systems of record, governed, and operated — the orchestration layer. Chapter 1 makes the thesis and quantifies the opening; Chapters 2–5 prove it with market, function, competitor and white-space evidence; Chapters 6–8 turn it into DataStaqAI's strategy, revenue path and investment case. Tell the audience what standard of proof to expect: every number in this deck is source-traceable to named vendors, funding rounds, pricing pages and analyst market sizings gathered in our competitive research base of 25 agentic use cases across six functional clusters and 40-plus named vendors. Where a figure is not publicly disclosed, the cell is left blank rather than estimated. Set the tone: this is a partner-level read, designed to change the decision in the room, not to survey the category.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macro premise the rest of the document depends on: the transition from software-assisted to AI-orchestrated work is not a single-category event, it is happening across every enterprise function at once. Walk the audience left to right. On the left is the model that built the SaaS industry: a human sits in front of a tool and operates it, and the vendor charges per seat. The intelligence lives in the human; the software is a deterministic substrate of rules, dashboards, macros and playbooks. Critically, cost scales linearly — more work means more seats. On the right is the agentic model: the agent operates the tools on the human's behalf, reasoning over context to decide the next step, and value is increasingly billed per outcome (per resolution, per ticket, per investigation) rather than per seat. Cost decouples from headcount. The four examples on each side are deliberately drawn from different functions — support, data, security, sales — to make the point that this is synchronized, not isolated. Then bring the evidence: this is not speculative. The agentic sub-markets are compounding at rates that only happen when a transition is genuinely underway — the autonomous-SOC market at ~24.8% CAGR, AI customer-support at ~23.1%, AI code-review at ~20.2%, DAM and fraud in the mid-teens. Markets do not grow at those rates during incremental upgrades; they grow that way during platform shifts. Land the strategic implication at the bottom: the seat is the unit being dismantled. That is the single most important sentence in the chapter, because everything downstream — the competitive split, the white space, DataStaqAI's wedge — follows from it. Whoever re-orchestrates the work around agents, wired into the systems of record the enterprise already trusts, captures the budget the seat used to hold. Foreshadow the tension for slide 3: a shift this valuable attracts two very different kinds of players, and the way they compete leaves a structural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structural heart of the thesis, so spend time here. The claim is that in every one of the 25 agentic use cases we studied, the market has bifurcated into two camps that compete in opposite directions and, in doing so, leave the same gap. On the left, the incumbents — Zendesk, Salesforce, Splunk, Workday, OutSystems, Looker and their peers — bolt AI onto the seat they already sell. They cannot lead the disruption because their revenue is the seat; cannibalising it is structurally irrational. Their moat is distribution and compliance, and their AI shows up as an add-on line item (Salesforce's Revenue Cloud at $200/seat is the archetype), not a re-architecture of the work. On the right, the AI-natives build genuinely excellent agents — but they go to market enterprise-first. The valuations make the strategy explicit: Sierra at $15.8B, Harvey $11B, Glean $7.2B, Decagon $4.5B, Vanta $4.15B are priced for winner-take-most enterprise capture, and the published entry floors follow — $360K/yr for legal, $150K for NL-analytics, $60K for agent-assist, $40K for enterprise search, plus the requirement that the buyer supply dedicated agent engineers or accept forward-deployed teams. The result is that both camps optimise for the Fortune 500. Now land the gold band: the hole is the mid-market — companies too large to keep running manual workflows but too small to afford a $50–360K/yr agent and the engineers to operate it. They can't afford the AI-native, the incumbent won't re-architect them, and they have no internal team to do the integration. Emphasise that this is not a niche; it is the structural by-product of how the entire category competes. Every subsequent chapter quantifies and attacks this gap. Pre-empt the obvious objection — 'won't the AI-natives just move down-market?' — and preview slide 4's answer: when they try, they bolt on services, which proves the gap rather than closing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failure of a 'white space' argument is that it is asserted rather than demonstrated. This slide demonstrates it with four independent signals, each from a different part of the market, so the conclusion is triangulated rather than narrative. First signal: the AI-natives themselves are bolting on managed and done-for-you tiers, which is what you do when buyers cannot operate your product alone. Crescendo went so far as to run a BPO and acquire PartnerHero's 3,000-person CX workforce; Botpress and Maven advertise 'Managed' tiers; Decagon fields forward-deployed engineers; Sierra attaches six-figure implementation services. If the product were truly self-serve for the mid-market, none of that would exist. Second signal: the best-funded company using the leading next-gen method — Mechanical Orchard in legacy modernization — explicitly states its platform is 'built to be operated and delivered by system integrators,' and it serves only the Global 2000. The leading method therefore requires a delivery layer and ignores the middle by design. Third signal, and the most strategically important: when Anthropic shipped Claude legal plug-ins in early 2026, it wiped roughly $285B off incumbent software, financial-data and asset-management stocks in a single session — but the genuine data fortresses (Thomson Reuters' proprietary legal corpus, Glean's context graph) held their value. The lesson is precise: frontier models destroy thin wrappers, not systems with proprietary data and workflow. The strategic instruction that follows is to sell ON TOP of the customer's systems of record, never as a wrapper the next model release will eat. Fourth signal: price floors are collapsing toward $0.40–1.50 per resolution and $10/month travel agents, which means 'cheap' and even 'managed' are commoditising into table stakes. Close by stating the only defensible anchor that remains: integration depth, workflow ownership, governance, and the client owning the outcome. That is the position Chapter 6 will build DataStaqAI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converts the thesis into four numbers and states the company's position, closing Chapter 1 on evidence rather than rhetoric. Take each stat deliberately. Twenty of twenty-five use cases resolve to an INTEGRATE+WORKFLOW posture — meaning the repeatable job across the portfolio is not inventing agents (the funded natives already did) and not reselling licenses, but wiring best-of-breed agents into the customer's systems of record and owning the workflow around them. Only two use cases are pure BUILD and three are DEPLOY-and-tune; the shape of the work is integration. Second, the price wedge: DataStaqAI's $24–60K/yr band (roughly $2–5k per month) sits below every published incumbent entry floor except GRC, where Sprinto already starts near $4K — so in GRC we compete on provenance and integration, not price, and everywhere else the mid-market affordability gap is real and quantified. Third, capital concentration: disclosed VC raised clusters in Security (~$1.9B) and Customer (~$1.0B), which tells us precisely where NOT to try to out-build or out-raise the natives, and instead to out-integrate them. Fourth, the two BUILD plays — legacy modernization and low-code escape — sit alone in the low-competitive-density lane, their deliverable is owned code no vendor can hand the client, and their funded rivals serve only the Global 2000; these are the highest-defensibility entry points and where we lead. Then deliver the positioning line as the chapter's conclusion: DataStaqAI is the delivery layer for the agent era — we wire the agents in, own the workflow and governance, run it, price it for the mid-market, and the client owns the outcome. Hand off to Chapter 2: having established the thesis and the size of the opening, the next chapter traces the market evolution in depth — how each functional market is moving, how fast, and which segments cross the line first — so the reader can see the timing, not just the shape, of the opportunity.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90527" y="0"/>
            <a:ext cx="201168"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68680"/>
            <a:ext cx="105156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THE AGENTIC ENTERPRISE  ·  A STRATEGY BRIEF BY DATASTAQAI</a:t>
            </a:r>
          </a:p>
        </p:txBody>
      </p:sp>
      <p:sp>
        <p:nvSpPr>
          <p:cNvPr id="5" name="TextBox 4"/>
          <p:cNvSpPr txBox="1"/>
          <p:nvPr/>
        </p:nvSpPr>
        <p:spPr>
          <a:xfrm>
            <a:off x="548640" y="1554480"/>
            <a:ext cx="10607040" cy="173736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From software-assisted work
to AI-orchestrated work</a:t>
            </a:r>
          </a:p>
        </p:txBody>
      </p:sp>
      <p:sp>
        <p:nvSpPr>
          <p:cNvPr id="6" name="Rectangle 5"/>
          <p:cNvSpPr/>
          <p:nvPr/>
        </p:nvSpPr>
        <p:spPr>
          <a:xfrm>
            <a:off x="548640" y="3611880"/>
            <a:ext cx="201168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840480"/>
            <a:ext cx="10424160" cy="731520"/>
          </a:xfrm>
          <a:prstGeom prst="rect">
            <a:avLst/>
          </a:prstGeom>
          <a:noFill/>
        </p:spPr>
        <p:txBody>
          <a:bodyPr wrap="square" anchor="t" lIns="0" rIns="0" tIns="0" bIns="0">
            <a:normAutofit/>
          </a:bodyPr>
          <a:lstStyle/>
          <a:p>
            <a:pPr algn="l">
              <a:lnSpc>
                <a:spcPct val="105000"/>
              </a:lnSpc>
              <a:spcBef>
                <a:spcPts val="0"/>
              </a:spcBef>
            </a:pPr>
            <a:r>
              <a:rPr sz="1800" b="0" i="0">
                <a:solidFill>
                  <a:srgbClr val="E0F7F1"/>
                </a:solidFill>
                <a:latin typeface="Calibri"/>
              </a:rPr>
              <a:t>The value will accrue to whoever delivers the orchestration — not to the model, and not to the seat.</a:t>
            </a:r>
          </a:p>
        </p:txBody>
      </p:sp>
      <p:sp>
        <p:nvSpPr>
          <p:cNvPr id="8" name="TextBox 7"/>
          <p:cNvSpPr txBox="1"/>
          <p:nvPr/>
        </p:nvSpPr>
        <p:spPr>
          <a:xfrm>
            <a:off x="548640" y="5760720"/>
            <a:ext cx="10972800" cy="640080"/>
          </a:xfrm>
          <a:prstGeom prst="rect">
            <a:avLst/>
          </a:prstGeom>
          <a:noFill/>
        </p:spPr>
        <p:txBody>
          <a:bodyPr wrap="square" anchor="t" lIns="0" rIns="0" tIns="0" bIns="0">
            <a:normAutofit/>
          </a:bodyPr>
          <a:lstStyle/>
          <a:p>
            <a:pPr algn="l">
              <a:lnSpc>
                <a:spcPct val="105000"/>
              </a:lnSpc>
              <a:spcBef>
                <a:spcPts val="0"/>
              </a:spcBef>
            </a:pPr>
            <a:r>
              <a:rPr sz="1100" b="0" i="0">
                <a:solidFill>
                  <a:srgbClr val="5B6B7C"/>
                </a:solidFill>
                <a:latin typeface="Calibri"/>
              </a:rPr>
              <a:t>Chapter 1 · Executive Thesis  |  Chapters: 1 Thesis · 2 Market Evolution · 3 Function Disruption · 4 Competitive Intelligence · 5 White Space · 6 DataStaqAI · 7 Revenue · 8 Investment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Every function is crossing the same line — from tools humans operate to agents that operate the tools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shift is synchronized across the enterprise, and the growth rates prove it is already underway</a:t>
            </a:r>
          </a:p>
        </p:txBody>
      </p:sp>
      <p:sp>
        <p:nvSpPr>
          <p:cNvPr id="7" name="Rounded Rectangle 6"/>
          <p:cNvSpPr/>
          <p:nvPr/>
        </p:nvSpPr>
        <p:spPr>
          <a:xfrm>
            <a:off x="548640" y="1737360"/>
            <a:ext cx="4754880" cy="26517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83664"/>
            <a:ext cx="4352544" cy="365760"/>
          </a:xfrm>
          <a:prstGeom prst="rect">
            <a:avLst/>
          </a:prstGeom>
          <a:noFill/>
        </p:spPr>
        <p:txBody>
          <a:bodyPr wrap="square" anchor="t" lIns="0" rIns="0" tIns="0" bIns="0">
            <a:noAutofit/>
          </a:bodyPr>
          <a:lstStyle/>
          <a:p>
            <a:pPr algn="l">
              <a:lnSpc>
                <a:spcPct val="105000"/>
              </a:lnSpc>
              <a:spcBef>
                <a:spcPts val="0"/>
              </a:spcBef>
            </a:pPr>
            <a:r>
              <a:rPr sz="1300" b="1" i="0">
                <a:solidFill>
                  <a:srgbClr val="1B2B3C"/>
                </a:solidFill>
                <a:latin typeface="Calibri"/>
              </a:rPr>
              <a:t>FROM — Software-assisted (per-seat SaaS)</a:t>
            </a:r>
          </a:p>
        </p:txBody>
      </p:sp>
      <p:sp>
        <p:nvSpPr>
          <p:cNvPr id="9" name="TextBox 8"/>
          <p:cNvSpPr txBox="1"/>
          <p:nvPr/>
        </p:nvSpPr>
        <p:spPr>
          <a:xfrm>
            <a:off x="749808" y="2340864"/>
            <a:ext cx="4352544" cy="188366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Humans operate the tool; value billed per seat</a:t>
            </a:r>
          </a:p>
          <a:p>
            <a:pPr algn="l">
              <a:lnSpc>
                <a:spcPct val="106000"/>
              </a:lnSpc>
              <a:spcBef>
                <a:spcPts val="500"/>
              </a:spcBef>
            </a:pPr>
            <a:r>
              <a:rPr sz="1100" b="0" i="0">
                <a:solidFill>
                  <a:srgbClr val="1B2B3C"/>
                </a:solidFill>
                <a:latin typeface="Calibri"/>
              </a:rPr>
              <a:t>•  Deterministic rules, dashboards, playbooks, macros</a:t>
            </a:r>
          </a:p>
          <a:p>
            <a:pPr algn="l">
              <a:lnSpc>
                <a:spcPct val="106000"/>
              </a:lnSpc>
              <a:spcBef>
                <a:spcPts val="500"/>
              </a:spcBef>
            </a:pPr>
            <a:r>
              <a:rPr sz="1100" b="0" i="0">
                <a:solidFill>
                  <a:srgbClr val="1B2B3C"/>
                </a:solidFill>
                <a:latin typeface="Calibri"/>
              </a:rPr>
              <a:t>•  More work = more seats = linear cost</a:t>
            </a:r>
          </a:p>
          <a:p>
            <a:pPr algn="l">
              <a:lnSpc>
                <a:spcPct val="106000"/>
              </a:lnSpc>
              <a:spcBef>
                <a:spcPts val="500"/>
              </a:spcBef>
            </a:pPr>
            <a:r>
              <a:rPr sz="1100" b="0" i="0">
                <a:solidFill>
                  <a:srgbClr val="1B2B3C"/>
                </a:solidFill>
                <a:latin typeface="Calibri"/>
              </a:rPr>
              <a:t>•  Examples: help-desk seats, BI dashboards, SOAR playbooks, CPQ grids</a:t>
            </a:r>
          </a:p>
        </p:txBody>
      </p:sp>
      <p:sp>
        <p:nvSpPr>
          <p:cNvPr id="10" name="TextBox 9"/>
          <p:cNvSpPr txBox="1"/>
          <p:nvPr/>
        </p:nvSpPr>
        <p:spPr>
          <a:xfrm>
            <a:off x="5486400" y="2651760"/>
            <a:ext cx="1188720" cy="914400"/>
          </a:xfrm>
          <a:prstGeom prst="rect">
            <a:avLst/>
          </a:prstGeom>
          <a:noFill/>
        </p:spPr>
        <p:txBody>
          <a:bodyPr wrap="square" anchor="t" lIns="0" rIns="0" tIns="0" bIns="0">
            <a:noAutofit/>
          </a:bodyPr>
          <a:lstStyle/>
          <a:p>
            <a:pPr algn="ctr">
              <a:lnSpc>
                <a:spcPct val="105000"/>
              </a:lnSpc>
              <a:spcBef>
                <a:spcPts val="0"/>
              </a:spcBef>
            </a:pPr>
            <a:r>
              <a:rPr sz="5400" b="1" i="0">
                <a:solidFill>
                  <a:srgbClr val="00C9A7"/>
                </a:solidFill>
                <a:latin typeface="Calibri"/>
              </a:rPr>
              <a:t>→</a:t>
            </a:r>
          </a:p>
        </p:txBody>
      </p:sp>
      <p:sp>
        <p:nvSpPr>
          <p:cNvPr id="11" name="Rounded Rectangle 10"/>
          <p:cNvSpPr/>
          <p:nvPr/>
        </p:nvSpPr>
        <p:spPr>
          <a:xfrm>
            <a:off x="6675120" y="1737360"/>
            <a:ext cx="4965192" cy="2651760"/>
          </a:xfrm>
          <a:prstGeom prst="roundRect">
            <a:avLst>
              <a:gd name="adj" fmla="val 4000"/>
            </a:avLst>
          </a:prstGeom>
          <a:solidFill>
            <a:srgbClr val="E0F7F1"/>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1883664"/>
            <a:ext cx="4562856"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B82"/>
                </a:solidFill>
                <a:latin typeface="Calibri"/>
              </a:rPr>
              <a:t>TO — AI-orchestrated (agentic)</a:t>
            </a:r>
          </a:p>
        </p:txBody>
      </p:sp>
      <p:sp>
        <p:nvSpPr>
          <p:cNvPr id="13" name="TextBox 12"/>
          <p:cNvSpPr txBox="1"/>
          <p:nvPr/>
        </p:nvSpPr>
        <p:spPr>
          <a:xfrm>
            <a:off x="6876288" y="2340864"/>
            <a:ext cx="4562856" cy="188366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The agent operates the tools; value billed per outcome</a:t>
            </a:r>
          </a:p>
          <a:p>
            <a:pPr algn="l">
              <a:lnSpc>
                <a:spcPct val="106000"/>
              </a:lnSpc>
              <a:spcBef>
                <a:spcPts val="500"/>
              </a:spcBef>
            </a:pPr>
            <a:r>
              <a:rPr sz="1100" b="0" i="0">
                <a:solidFill>
                  <a:srgbClr val="1B2B3C"/>
                </a:solidFill>
                <a:latin typeface="Calibri"/>
              </a:rPr>
              <a:t>•  Reasoning over context; the agent decides the next step</a:t>
            </a:r>
          </a:p>
          <a:p>
            <a:pPr algn="l">
              <a:lnSpc>
                <a:spcPct val="106000"/>
              </a:lnSpc>
              <a:spcBef>
                <a:spcPts val="500"/>
              </a:spcBef>
            </a:pPr>
            <a:r>
              <a:rPr sz="1100" b="0" i="0">
                <a:solidFill>
                  <a:srgbClr val="1B2B3C"/>
                </a:solidFill>
                <a:latin typeface="Calibri"/>
              </a:rPr>
              <a:t>•  More work = more agent runs = decoupled from headcount</a:t>
            </a:r>
          </a:p>
          <a:p>
            <a:pPr algn="l">
              <a:lnSpc>
                <a:spcPct val="106000"/>
              </a:lnSpc>
              <a:spcBef>
                <a:spcPts val="500"/>
              </a:spcBef>
            </a:pPr>
            <a:r>
              <a:rPr sz="1100" b="0" i="0">
                <a:solidFill>
                  <a:srgbClr val="1B2B3C"/>
                </a:solidFill>
                <a:latin typeface="Calibri"/>
              </a:rPr>
              <a:t>•  Examples: autonomous tier-1 resolution, text-to-SQL, auto-remediation, conversational quoting</a:t>
            </a:r>
          </a:p>
        </p:txBody>
      </p:sp>
      <p:sp>
        <p:nvSpPr>
          <p:cNvPr id="14" name="Rounded Rectangle 13"/>
          <p:cNvSpPr/>
          <p:nvPr/>
        </p:nvSpPr>
        <p:spPr>
          <a:xfrm>
            <a:off x="548640" y="4617720"/>
            <a:ext cx="11094415" cy="13716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754880"/>
            <a:ext cx="54864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STRATEGIC IMPLICATION</a:t>
            </a:r>
          </a:p>
        </p:txBody>
      </p:sp>
      <p:sp>
        <p:nvSpPr>
          <p:cNvPr id="16" name="TextBox 15"/>
          <p:cNvSpPr txBox="1"/>
          <p:nvPr/>
        </p:nvSpPr>
        <p:spPr>
          <a:xfrm>
            <a:off x="777240" y="5074920"/>
            <a:ext cx="10637215" cy="822960"/>
          </a:xfrm>
          <a:prstGeom prst="rect">
            <a:avLst/>
          </a:prstGeom>
          <a:noFill/>
        </p:spPr>
        <p:txBody>
          <a:bodyPr wrap="square" anchor="t" lIns="0" rIns="0" tIns="0" bIns="0">
            <a:normAutofit/>
          </a:bodyPr>
          <a:lstStyle/>
          <a:p>
            <a:pPr algn="l">
              <a:lnSpc>
                <a:spcPct val="105000"/>
              </a:lnSpc>
              <a:spcBef>
                <a:spcPts val="0"/>
              </a:spcBef>
            </a:pPr>
            <a:r>
              <a:rPr sz="1500" b="0" i="0">
                <a:solidFill>
                  <a:srgbClr val="FFFFFF"/>
                </a:solidFill>
                <a:latin typeface="Calibri"/>
              </a:rPr>
              <a:t>The seat is the unit being dismantled. Whoever re-orchestrates the work around agents — wired into the existing systems of record — captures the budget the seat used to hold.</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1: Executive Thesis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Each category has split into two camps — and both price the mid-market out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Incumbents defend the seat; AI-natives sell the agent enterprise-first. Neither serves the middle.</a:t>
            </a:r>
          </a:p>
        </p:txBody>
      </p:sp>
      <p:sp>
        <p:nvSpPr>
          <p:cNvPr id="7" name="Rounded Rectangle 6"/>
          <p:cNvSpPr/>
          <p:nvPr/>
        </p:nvSpPr>
        <p:spPr>
          <a:xfrm>
            <a:off x="548640" y="1737360"/>
            <a:ext cx="5394960" cy="246888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83664"/>
            <a:ext cx="4992624"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INCUMBENTS — defend the seat</a:t>
            </a:r>
          </a:p>
        </p:txBody>
      </p:sp>
      <p:sp>
        <p:nvSpPr>
          <p:cNvPr id="9" name="TextBox 8"/>
          <p:cNvSpPr txBox="1"/>
          <p:nvPr/>
        </p:nvSpPr>
        <p:spPr>
          <a:xfrm>
            <a:off x="749808" y="2340864"/>
            <a:ext cx="4992624" cy="1700784"/>
          </a:xfrm>
          <a:prstGeom prst="rect">
            <a:avLst/>
          </a:prstGeom>
          <a:noFill/>
        </p:spPr>
        <p:txBody>
          <a:bodyPr wrap="square" anchor="t" lIns="0" rIns="0" tIns="0" bIns="0">
            <a:normAutofit/>
          </a:bodyPr>
          <a:lstStyle/>
          <a:p>
            <a:pPr algn="l">
              <a:lnSpc>
                <a:spcPct val="106000"/>
              </a:lnSpc>
              <a:spcBef>
                <a:spcPts val="500"/>
              </a:spcBef>
            </a:pPr>
            <a:r>
              <a:rPr sz="1100" b="0" i="0">
                <a:solidFill>
                  <a:srgbClr val="E0F7F1"/>
                </a:solidFill>
                <a:latin typeface="Calibri"/>
              </a:rPr>
              <a:t>•  Bolt AI onto the platform they already sell; won't cannibalise seat revenue</a:t>
            </a:r>
          </a:p>
          <a:p>
            <a:pPr algn="l">
              <a:lnSpc>
                <a:spcPct val="106000"/>
              </a:lnSpc>
              <a:spcBef>
                <a:spcPts val="500"/>
              </a:spcBef>
            </a:pPr>
            <a:r>
              <a:rPr sz="1100" b="0" i="0">
                <a:solidFill>
                  <a:srgbClr val="E0F7F1"/>
                </a:solidFill>
                <a:latin typeface="Calibri"/>
              </a:rPr>
              <a:t>•  Distribution + compliance are the moat</a:t>
            </a:r>
          </a:p>
          <a:p>
            <a:pPr algn="l">
              <a:lnSpc>
                <a:spcPct val="106000"/>
              </a:lnSpc>
              <a:spcBef>
                <a:spcPts val="500"/>
              </a:spcBef>
            </a:pPr>
            <a:r>
              <a:rPr sz="1100" b="0" i="0">
                <a:solidFill>
                  <a:srgbClr val="E0F7F1"/>
                </a:solidFill>
                <a:latin typeface="Calibri"/>
              </a:rPr>
              <a:t>•  Pricing stays per-seat / per-tier (e.g. Salesforce Revenue Cloud $200/seat)</a:t>
            </a:r>
          </a:p>
          <a:p>
            <a:pPr algn="l">
              <a:lnSpc>
                <a:spcPct val="106000"/>
              </a:lnSpc>
              <a:spcBef>
                <a:spcPts val="500"/>
              </a:spcBef>
            </a:pPr>
            <a:r>
              <a:rPr sz="1100" b="0" i="0">
                <a:solidFill>
                  <a:srgbClr val="E0F7F1"/>
                </a:solidFill>
                <a:latin typeface="Calibri"/>
              </a:rPr>
              <a:t>•  Outcome: AI as an add-on line item, not a re-architecture</a:t>
            </a:r>
          </a:p>
        </p:txBody>
      </p:sp>
      <p:sp>
        <p:nvSpPr>
          <p:cNvPr id="10" name="Rounded Rectangle 9"/>
          <p:cNvSpPr/>
          <p:nvPr/>
        </p:nvSpPr>
        <p:spPr>
          <a:xfrm>
            <a:off x="6153912" y="1737360"/>
            <a:ext cx="5486400" cy="2468880"/>
          </a:xfrm>
          <a:prstGeom prst="roundRect">
            <a:avLst>
              <a:gd name="adj" fmla="val 4000"/>
            </a:avLst>
          </a:prstGeom>
          <a:solidFill>
            <a:srgbClr val="E0F7F1"/>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83664"/>
            <a:ext cx="5084064"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B82"/>
                </a:solidFill>
                <a:latin typeface="Calibri"/>
              </a:rPr>
              <a:t>AI-NATIVES — sell the agent, enterprise-first</a:t>
            </a:r>
          </a:p>
        </p:txBody>
      </p:sp>
      <p:sp>
        <p:nvSpPr>
          <p:cNvPr id="12" name="TextBox 11"/>
          <p:cNvSpPr txBox="1"/>
          <p:nvPr/>
        </p:nvSpPr>
        <p:spPr>
          <a:xfrm>
            <a:off x="6355080" y="2340864"/>
            <a:ext cx="5084064" cy="17007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Best-in-class agents, but six-figure ACVs + dedicated agent engineers</a:t>
            </a:r>
          </a:p>
          <a:p>
            <a:pPr algn="l">
              <a:lnSpc>
                <a:spcPct val="106000"/>
              </a:lnSpc>
              <a:spcBef>
                <a:spcPts val="500"/>
              </a:spcBef>
            </a:pPr>
            <a:r>
              <a:rPr sz="1100" b="0" i="0">
                <a:solidFill>
                  <a:srgbClr val="1B2B3C"/>
                </a:solidFill>
                <a:latin typeface="Calibri"/>
              </a:rPr>
              <a:t>•  Valuations: Sierra $15.8B · Harvey $11B · Glean $7.2B · Decagon $4.5B · Vanta $4.15B</a:t>
            </a:r>
          </a:p>
          <a:p>
            <a:pPr algn="l">
              <a:lnSpc>
                <a:spcPct val="106000"/>
              </a:lnSpc>
              <a:spcBef>
                <a:spcPts val="500"/>
              </a:spcBef>
            </a:pPr>
            <a:r>
              <a:rPr sz="1100" b="0" i="0">
                <a:solidFill>
                  <a:srgbClr val="1B2B3C"/>
                </a:solidFill>
                <a:latin typeface="Calibri"/>
              </a:rPr>
              <a:t>•  Entry floors: Legal $360K · NL-analytics $150K · agent-assist $60K · search $40K /yr</a:t>
            </a:r>
          </a:p>
          <a:p>
            <a:pPr algn="l">
              <a:lnSpc>
                <a:spcPct val="106000"/>
              </a:lnSpc>
              <a:spcBef>
                <a:spcPts val="500"/>
              </a:spcBef>
            </a:pPr>
            <a:r>
              <a:rPr sz="1100" b="0" i="0">
                <a:solidFill>
                  <a:srgbClr val="1B2B3C"/>
                </a:solidFill>
                <a:latin typeface="Calibri"/>
              </a:rPr>
              <a:t>•  Outcome: the Fortune 500 wins; the mid-market is priced and staffed out</a:t>
            </a:r>
          </a:p>
        </p:txBody>
      </p:sp>
      <p:sp>
        <p:nvSpPr>
          <p:cNvPr id="13" name="Rounded Rectangle 12"/>
          <p:cNvSpPr/>
          <p:nvPr/>
        </p:nvSpPr>
        <p:spPr>
          <a:xfrm>
            <a:off x="548640" y="4434840"/>
            <a:ext cx="11094415" cy="1554480"/>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572000"/>
            <a:ext cx="54864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A1628"/>
                </a:solidFill>
                <a:latin typeface="Calibri"/>
              </a:rPr>
              <a:t>THE HOLE — the mid-market</a:t>
            </a:r>
          </a:p>
        </p:txBody>
      </p:sp>
      <p:sp>
        <p:nvSpPr>
          <p:cNvPr id="15" name="TextBox 14"/>
          <p:cNvSpPr txBox="1"/>
          <p:nvPr/>
        </p:nvSpPr>
        <p:spPr>
          <a:xfrm>
            <a:off x="777240" y="4937760"/>
            <a:ext cx="10637215" cy="9144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Companies too large for manual workflows but too small for $50–360K/yr agents and the engineers to run them. They can't afford the AI-native, won't get re-architected by the incumbent, and have no team to integrate either. That unserved middle is the entire opportunity of this document.</a:t>
            </a:r>
          </a:p>
        </p:txBody>
      </p:sp>
      <p:sp>
        <p:nvSpPr>
          <p:cNvPr id="16" name="TextBox 1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1: Executive Thesis</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white space is proven, not asserted — the agent-natives have already conceded it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Four independent signals show mid-market delivery is the unmet need, and the models punish wrappers, not fortresses</a:t>
            </a:r>
          </a:p>
        </p:txBody>
      </p:sp>
      <p:sp>
        <p:nvSpPr>
          <p:cNvPr id="7" name="Rounded Rectangle 6"/>
          <p:cNvSpPr/>
          <p:nvPr/>
        </p:nvSpPr>
        <p:spPr>
          <a:xfrm>
            <a:off x="548640" y="1783080"/>
            <a:ext cx="539496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29384"/>
            <a:ext cx="499262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Managed tiers are appearing</a:t>
            </a:r>
          </a:p>
        </p:txBody>
      </p:sp>
      <p:sp>
        <p:nvSpPr>
          <p:cNvPr id="9" name="TextBox 8"/>
          <p:cNvSpPr txBox="1"/>
          <p:nvPr/>
        </p:nvSpPr>
        <p:spPr>
          <a:xfrm>
            <a:off x="749808" y="2386584"/>
            <a:ext cx="499262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Crescendo runs a BPO and bought PartnerHero's 3,000 CX staff</a:t>
            </a:r>
          </a:p>
          <a:p>
            <a:pPr algn="l">
              <a:lnSpc>
                <a:spcPct val="106000"/>
              </a:lnSpc>
              <a:spcBef>
                <a:spcPts val="500"/>
              </a:spcBef>
            </a:pPr>
            <a:r>
              <a:rPr sz="1100" b="0" i="0">
                <a:solidFill>
                  <a:srgbClr val="1B2B3C"/>
                </a:solidFill>
                <a:latin typeface="Calibri"/>
              </a:rPr>
              <a:t>•  Botpress &amp; Maven ship 'Managed'; Decagon fields forward-deployed engineers; Sierra sells 6-figure services</a:t>
            </a:r>
          </a:p>
        </p:txBody>
      </p:sp>
      <p:sp>
        <p:nvSpPr>
          <p:cNvPr id="10" name="Rounded Rectangle 9"/>
          <p:cNvSpPr/>
          <p:nvPr/>
        </p:nvSpPr>
        <p:spPr>
          <a:xfrm>
            <a:off x="6153912" y="1783080"/>
            <a:ext cx="548640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29384"/>
            <a:ext cx="508406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The leading method needs a delivery layer</a:t>
            </a:r>
          </a:p>
        </p:txBody>
      </p:sp>
      <p:sp>
        <p:nvSpPr>
          <p:cNvPr id="12" name="TextBox 11"/>
          <p:cNvSpPr txBox="1"/>
          <p:nvPr/>
        </p:nvSpPr>
        <p:spPr>
          <a:xfrm>
            <a:off x="6355080" y="2386584"/>
            <a:ext cx="508406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Mechanical Orchard (best-funded behavior-first modernizer) says its platform is 'built to be operated and delivered by system integrators'</a:t>
            </a:r>
          </a:p>
          <a:p>
            <a:pPr algn="l">
              <a:lnSpc>
                <a:spcPct val="106000"/>
              </a:lnSpc>
              <a:spcBef>
                <a:spcPts val="500"/>
              </a:spcBef>
            </a:pPr>
            <a:r>
              <a:rPr sz="1100" b="0" i="0">
                <a:solidFill>
                  <a:srgbClr val="1B2B3C"/>
                </a:solidFill>
                <a:latin typeface="Calibri"/>
              </a:rPr>
              <a:t>•  And it serves only the Global 2000 — the mid-market is explicitly out of scope</a:t>
            </a:r>
          </a:p>
        </p:txBody>
      </p:sp>
      <p:sp>
        <p:nvSpPr>
          <p:cNvPr id="13" name="Rounded Rectangle 12"/>
          <p:cNvSpPr/>
          <p:nvPr/>
        </p:nvSpPr>
        <p:spPr>
          <a:xfrm>
            <a:off x="548640" y="3977639"/>
            <a:ext cx="539496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123943"/>
            <a:ext cx="499262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Models kill wrappers, not fortresses</a:t>
            </a:r>
          </a:p>
        </p:txBody>
      </p:sp>
      <p:sp>
        <p:nvSpPr>
          <p:cNvPr id="15" name="TextBox 14"/>
          <p:cNvSpPr txBox="1"/>
          <p:nvPr/>
        </p:nvSpPr>
        <p:spPr>
          <a:xfrm>
            <a:off x="749808" y="4581143"/>
            <a:ext cx="499262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Anthropic's Claude legal plug-ins triggered a ~$285B incumbent selloff…</a:t>
            </a:r>
          </a:p>
          <a:p>
            <a:pPr algn="l">
              <a:lnSpc>
                <a:spcPct val="106000"/>
              </a:lnSpc>
              <a:spcBef>
                <a:spcPts val="500"/>
              </a:spcBef>
            </a:pPr>
            <a:r>
              <a:rPr sz="1100" b="0" i="0">
                <a:solidFill>
                  <a:srgbClr val="1B2B3C"/>
                </a:solidFill>
                <a:latin typeface="Calibri"/>
              </a:rPr>
              <a:t>•  …yet the data-fortress moats (Thomson Reuters, Glean) held. Sell ON TOP of systems, never a thin wrapper</a:t>
            </a:r>
          </a:p>
        </p:txBody>
      </p:sp>
      <p:sp>
        <p:nvSpPr>
          <p:cNvPr id="16" name="Rounded Rectangle 15"/>
          <p:cNvSpPr/>
          <p:nvPr/>
        </p:nvSpPr>
        <p:spPr>
          <a:xfrm>
            <a:off x="6153912" y="3977639"/>
            <a:ext cx="548640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123943"/>
            <a:ext cx="508406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Price floors are collapsing — so 'cheap' and 'managed' are table stakes</a:t>
            </a:r>
          </a:p>
        </p:txBody>
      </p:sp>
      <p:sp>
        <p:nvSpPr>
          <p:cNvPr id="18" name="TextBox 17"/>
          <p:cNvSpPr txBox="1"/>
          <p:nvPr/>
        </p:nvSpPr>
        <p:spPr>
          <a:xfrm>
            <a:off x="6355080" y="4581143"/>
            <a:ext cx="508406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$0.40–1.50 per resolution; $10/mo travel agents</a:t>
            </a:r>
          </a:p>
          <a:p>
            <a:pPr algn="l">
              <a:lnSpc>
                <a:spcPct val="106000"/>
              </a:lnSpc>
              <a:spcBef>
                <a:spcPts val="500"/>
              </a:spcBef>
            </a:pPr>
            <a:r>
              <a:rPr sz="1100" b="0" i="0">
                <a:solidFill>
                  <a:srgbClr val="1B2B3C"/>
                </a:solidFill>
                <a:latin typeface="Calibri"/>
              </a:rPr>
              <a:t>•  The defensible anchor is integration + workflow ownership + governance + the client owns the outcome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1: Executive Thesis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94415" cy="731520"/>
          </a:xfrm>
          <a:prstGeom prst="rect">
            <a:avLst/>
          </a:prstGeom>
          <a:noFill/>
        </p:spPr>
        <p:txBody>
          <a:bodyPr wrap="square" anchor="t" lIns="0" rIns="0" tIns="0" bIns="0">
            <a:normAutofit/>
          </a:bodyPr>
          <a:lstStyle/>
          <a:p>
            <a:pPr algn="l">
              <a:lnSpc>
                <a:spcPct val="105000"/>
              </a:lnSpc>
              <a:spcBef>
                <a:spcPts val="0"/>
              </a:spcBef>
            </a:pPr>
            <a:r>
              <a:rPr sz="2700" b="1" i="0">
                <a:solidFill>
                  <a:srgbClr val="FFFFFF"/>
                </a:solidFill>
                <a:latin typeface="Calibri"/>
              </a:rPr>
              <a:t>The opening is the mid-market integration gap — not another agent</a:t>
            </a:r>
          </a:p>
        </p:txBody>
      </p:sp>
      <p:sp>
        <p:nvSpPr>
          <p:cNvPr id="5" name="Rectangle 4"/>
          <p:cNvSpPr/>
          <p:nvPr/>
        </p:nvSpPr>
        <p:spPr>
          <a:xfrm>
            <a:off x="548640" y="120700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08760"/>
            <a:ext cx="539496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20 / 25</a:t>
            </a:r>
          </a:p>
        </p:txBody>
      </p:sp>
      <p:sp>
        <p:nvSpPr>
          <p:cNvPr id="8" name="TextBox 7"/>
          <p:cNvSpPr txBox="1"/>
          <p:nvPr/>
        </p:nvSpPr>
        <p:spPr>
          <a:xfrm>
            <a:off x="777240" y="2423160"/>
            <a:ext cx="493776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use cases are INTEGRATE+WORKFLOW — the job is wiring agents into systems of record, not building or reselling them</a:t>
            </a:r>
          </a:p>
        </p:txBody>
      </p:sp>
      <p:sp>
        <p:nvSpPr>
          <p:cNvPr id="9" name="Rounded Rectangle 8"/>
          <p:cNvSpPr/>
          <p:nvPr/>
        </p:nvSpPr>
        <p:spPr>
          <a:xfrm>
            <a:off x="6153912" y="1508760"/>
            <a:ext cx="548640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91640"/>
            <a:ext cx="502920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$24–60K/yr</a:t>
            </a:r>
          </a:p>
        </p:txBody>
      </p:sp>
      <p:sp>
        <p:nvSpPr>
          <p:cNvPr id="11" name="TextBox 10"/>
          <p:cNvSpPr txBox="1"/>
          <p:nvPr/>
        </p:nvSpPr>
        <p:spPr>
          <a:xfrm>
            <a:off x="6382512" y="2423160"/>
            <a:ext cx="502920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DataStaqAI's band sits below every published incumbent floor but one (GRC) — the mid-market price wedge</a:t>
            </a:r>
          </a:p>
        </p:txBody>
      </p:sp>
      <p:sp>
        <p:nvSpPr>
          <p:cNvPr id="12" name="Rounded Rectangle 11"/>
          <p:cNvSpPr/>
          <p:nvPr/>
        </p:nvSpPr>
        <p:spPr>
          <a:xfrm>
            <a:off x="548640" y="3611880"/>
            <a:ext cx="539496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9476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$1.9B vs $1.0B</a:t>
            </a:r>
          </a:p>
        </p:txBody>
      </p:sp>
      <p:sp>
        <p:nvSpPr>
          <p:cNvPr id="14" name="TextBox 13"/>
          <p:cNvSpPr txBox="1"/>
          <p:nvPr/>
        </p:nvSpPr>
        <p:spPr>
          <a:xfrm>
            <a:off x="777240" y="4526280"/>
            <a:ext cx="493776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VC concentrated in Security &amp; Customer — out-integrate, don't out-raise the funded natives</a:t>
            </a:r>
          </a:p>
        </p:txBody>
      </p:sp>
      <p:sp>
        <p:nvSpPr>
          <p:cNvPr id="15" name="Rounded Rectangle 14"/>
          <p:cNvSpPr/>
          <p:nvPr/>
        </p:nvSpPr>
        <p:spPr>
          <a:xfrm>
            <a:off x="6153912" y="3611880"/>
            <a:ext cx="548640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3794760"/>
            <a:ext cx="502920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2 BUILD plays</a:t>
            </a:r>
          </a:p>
        </p:txBody>
      </p:sp>
      <p:sp>
        <p:nvSpPr>
          <p:cNvPr id="17" name="TextBox 16"/>
          <p:cNvSpPr txBox="1"/>
          <p:nvPr/>
        </p:nvSpPr>
        <p:spPr>
          <a:xfrm>
            <a:off x="6382512" y="4526280"/>
            <a:ext cx="502920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Legacy modernization + low-code escape: lowest density, owned-code outcome, rivals are Global-2000-only</a:t>
            </a:r>
          </a:p>
        </p:txBody>
      </p:sp>
      <p:sp>
        <p:nvSpPr>
          <p:cNvPr id="18" name="TextBox 17"/>
          <p:cNvSpPr txBox="1"/>
          <p:nvPr/>
        </p:nvSpPr>
        <p:spPr>
          <a:xfrm>
            <a:off x="548640" y="5715000"/>
            <a:ext cx="11094415" cy="731520"/>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DataStaqAI is the delivery layer for the agent era: we wire best-of-breed agents into your systems, own the workflow + governance, and run it — at mid-market price, with the client owning the outcome.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DataStaqAI · The Agentic Enterprise · Chapter 1: Executive Thesis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
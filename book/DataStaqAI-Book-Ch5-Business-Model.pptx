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business-model chapter by making the customer concrete, because a fuzzy ICP is the most common reason a delivery business fails to scale. The ideal customer is defined on three dimensions that must all be true. Firmographically, it is a mid-market company — roughly 200 to 2,000 employees and $50M to $1B in revenue — in a vertical where the agentic pain is acute: manufacturing and distribution, financial services, legal, healthcare-adjacent, and B2B SaaS. Critically, it already runs real systems of record — an ERP, CRM, HRIS or SIEM — but has no internal team to build and operate agents on top of them. The buyer side has an economic buyer (CFO, COO or CIO) and a functional champion who is measured on the broken workflow — a VP of Engineering, a RevOps lead, a controller, a head of CX, a CISO, or a legal-ops manager. The third dimension, and the one that makes outbound efficient, is an observable trigger: a Salesforce CPQ End-of-Sale forcing a migration, a low-code license re-pricing, a SOC-analyst job posting signaling alert overload, a failed OCR rollout in AP, a legal 'which-tools' evaluation, or onboarding and month-end pain. The disqualifiers matter as much as the qualifiers: a sub-50-person SMB is better served by a self-serve tool; a Global-2000 enterprise belongs to a Global SI or a direct AI-native deal; and a company with no real system of record has nothing to wire into. State the ICP in one sentence the team can repeat: a 200–2,000-person company with a real system of record, a measured pain owner, and a forced trigger, that can neither afford the enterprise tool nor staff the integration. Note clearly that the bands are illustrative starting parameters to be tightened with real win/loss data — but the shape is what makes the hunt (Chapter 6) efficient.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service portfolio operationalizes the three postures introduced earlier into three productized lines, which is the difference between a consultancy that reinvents every engagement and a scalable delivery firm with repeatable offers. The BUILD Studio delivers owned-code outcomes — legacy modernization, low-code escape, and bespoke agents where no off-the-shelf product exists — using the behavior-grounded method the leaders validated, with the client keeping the code; commercially it is a fixed-scope project plus a maintenance retainer, delivered in weeks to months, and it is the sharpest, highest-trust line. INTEGRATE &amp; Operate is the volume engine: wire a best-of-breed agent into the customer's system of record, own the client-specific workflow and governance, and run it — across CPQ, AP, support, legal, search, fraud and GRC — sold as a monthly managed service that is recurring by construction, with a two-to-six-week standup. DEPLOY &amp; Tune lands fast wins: stand up and tune a mature tool the client can't operate alone — SIEM investigation, predictive ops, code review, agent-assist — as an onboarding fee plus retainer, live in days to weeks. The strategic elegance, and the line to land, is that this is one sales motion with three fulfilment shapes, and the three feed each other: a BUILD engagement earns the trust and system access that make INTEGRATE deals easy; a DEPLOY win proves value fast and opens the door to INTEGRATE; and every INTEGRATE account is a land-and-expand base for more functions. Productizing matters because it lets junior delivery staff and reusable agent templates execute against a known scope, which is what converts a services business into one with software-like leverage — the subject of the delivery-model slide. Keep the framing that these are offers, not projects: named, scoped, repeatable, and priced — the next slide makes the pricing explicit.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where the mid-market position becomes a number, so present it as a deliberate structure rather than a rate card. The model blends two components: a recurring managed monthly that makes revenue predictable for DataStaqAI, and, for the BUILD line, a fixed project fee that funds delivery up front and de-risks cash flow. Four illustrative tiers express the land-and-expand motion. The Pilot/Land tier — a single INTEGRATE or DEPLOY use case at roughly $2–3k a month with a two-to-four-week standup — is the wedge: small enough to approve without a committee, fast enough to prove value. Growth — two to three use cases plus governance at roughly $5–8k a month — is the expansion most accounts settle into. Multi-Function — a cross-function managed program at roughly $10–15k a month — is the mature account. And the BUILD Project — owned-code modernization or low-code escape at roughly $40–150k fixed plus a retainer — is the high-trust, high-value engagement that often opens the relationship. The single most important framing, in the band, is the anchor against the competitive floor established in Chapter 4: incumbents start at $40k a year for search and run to $360k for legal, before the agent engineers the buyer must also supply. DataStaqAI's $24–60k/year band undercuts every one of those floors while delivering the outcome that the cheap self-serve SMB tools do not. That is the pricing thesis in one sentence: priced below the enterprise floor, scoped above the SMB tool. Be explicit that these tiers are illustrative and must be refined with real win/loss and cost-to-serve data; the point of the slide is the structure — recurring monthly plus fixed build, anchored below the floor, built for expansion — not the precise dollar figures. The delivery model next shows why these prices can be profitable.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toughest question about any delivery business: 'isn't this just a consultancy that scales with headcount?' The pipeline across the top — discover and qualify, wire or build using OpenHands with subagents and MCP integrations, govern with policy and provenance, operate and monitor, then expand — is the repeatable delivery motion. But the strategic content is below it: the leverage. Every engagement contributes reusable agents, connectors and workflow templates to a shared library, so each new client engagement starts further along and costs less to deliver than the last. That is the mechanism that separates DataStaqAI from a body-shop: a systems integrator scales revenue by adding billable hours, and its margin is capped by labor; DataStaqAI scales by adding reusable software assets, so gross margin trends upward toward software-like levels as the library matures, and junior delivery staff can execute against productized scope rather than every senior engineer reinventing each project. Reinforce that the pricing is outcome-based, not time-and-materials, which aligns incentives and protects margin as delivery gets more efficient. And make the defensibility point: the accumulated library — the wired integrations, the governance patterns, the function-specific agent templates — is a compounding moat that a competitor would have to rebuild client by client. Be candid about the honest tension surfaced in the SWOT: in the early stage, before the library is deep, delivery does carry a services flavor and capacity is real; the model bets that disciplined productization and reuse convert that into software economics over time. The investor translation, which Chapter 7 will make explicit, is that this is a services business with a software trajectory — which is exactly the profile that can reach the $5–10M target with healthy margins. The revenue model next shows how those engagements stack into recurring revenue.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business-model chapter by showing how individual engagements stack into durable, compounding revenue — the structure, with the actual three-year math reserved for Chapter 6. Revenue has three streams. Recurring managed, the largest at an illustrative ~70%, is the monthly INTEGRATE and DEPLOY retainers — predictable, compounding, and sticky because the agent is wired into the customer's system of record and governance, which raises switching costs. Build projects, ~30%, are the fixed-fee owned-code engagements that fund delivery up front, provide a high-trust entry point, and convert into managed retainers once the built system needs operating. Expansion is the growth engine and the reason net revenue retention can exceed 100%: land a single function, then expand the same account to three to five functions, cross-selling across BUILD, INTEGRATE and DEPLOY. The motion to emphasize is land, expand, compound: a pilot at $2–3k a month grows to a multi-function program at $10–15k a month, layered with build projects, producing a recurring base that grows from within even before new logos are added. The strategic payoff, and the bridge to Chapter 6, is that an expansion-led model needs surprisingly few logos to reach $5–10M, because each account compounds — which is why net revenue retention, not just new-logo acquisition, is the metric that matters. Frame the blended picture honestly: roughly 70% recurring plus 30% build, with NRR above 100%, is a services entry that compounds into software-like recurring revenue over time. Stress once more that the mix and percentages are illustrative and will be calibrated with real cohort data; the durable claim is the shape — a sticky recurring base, a high-trust build wedge, and expansion as the engine. Chapter 6 now turns this structure into a concrete path to $5–10M: acquisition, expansion, hiring, unit economics, and the execution roadmap.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ICP is the mid-market company too big for SMB tools, too small for AI-natives — with a forced trigger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Tight firmographics + a named champion + an observable trigger = a qualified deal  (illustrative profile)</a:t>
            </a:r>
          </a:p>
        </p:txBody>
      </p:sp>
      <p:sp>
        <p:nvSpPr>
          <p:cNvPr id="7" name="Rounded Rectangle 6"/>
          <p:cNvSpPr/>
          <p:nvPr/>
        </p:nvSpPr>
        <p:spPr>
          <a:xfrm>
            <a:off x="548640" y="1783080"/>
            <a:ext cx="544068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498348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FIRMOGRAPHICS</a:t>
            </a:r>
          </a:p>
        </p:txBody>
      </p:sp>
      <p:sp>
        <p:nvSpPr>
          <p:cNvPr id="10" name="TextBox 9"/>
          <p:cNvSpPr txBox="1"/>
          <p:nvPr/>
        </p:nvSpPr>
        <p:spPr>
          <a:xfrm>
            <a:off x="822960" y="2459736"/>
            <a:ext cx="493776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200–2,000 employees; ~$50M–$1B revenue</a:t>
            </a:r>
          </a:p>
          <a:p>
            <a:pPr algn="l">
              <a:lnSpc>
                <a:spcPct val="106000"/>
              </a:lnSpc>
              <a:spcBef>
                <a:spcPts val="600"/>
              </a:spcBef>
            </a:pPr>
            <a:r>
              <a:rPr sz="1100" b="0" i="0">
                <a:solidFill>
                  <a:srgbClr val="1B2B3C"/>
                </a:solidFill>
                <a:latin typeface="Calibri"/>
              </a:rPr>
              <a:t>•  Verticals w/ acute pain: mfg &amp; distribution, financial services, legal, healthcare-adjacent, B2B SaaS</a:t>
            </a:r>
          </a:p>
          <a:p>
            <a:pPr algn="l">
              <a:lnSpc>
                <a:spcPct val="106000"/>
              </a:lnSpc>
              <a:spcBef>
                <a:spcPts val="600"/>
              </a:spcBef>
            </a:pPr>
            <a:r>
              <a:rPr sz="1100" b="0" i="0">
                <a:solidFill>
                  <a:srgbClr val="1B2B3C"/>
                </a:solidFill>
                <a:latin typeface="Calibri"/>
              </a:rPr>
              <a:t>•  Has real systems of record (ERP/CRM/HRIS/SIEM) but no internal agent team</a:t>
            </a:r>
          </a:p>
        </p:txBody>
      </p:sp>
      <p:sp>
        <p:nvSpPr>
          <p:cNvPr id="11" name="Rounded Rectangle 10"/>
          <p:cNvSpPr/>
          <p:nvPr/>
        </p:nvSpPr>
        <p:spPr>
          <a:xfrm>
            <a:off x="6153912" y="1783080"/>
            <a:ext cx="548640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783080"/>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929384"/>
            <a:ext cx="50292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BUYER &amp; CHAMPIONS</a:t>
            </a:r>
          </a:p>
        </p:txBody>
      </p:sp>
      <p:sp>
        <p:nvSpPr>
          <p:cNvPr id="14" name="TextBox 13"/>
          <p:cNvSpPr txBox="1"/>
          <p:nvPr/>
        </p:nvSpPr>
        <p:spPr>
          <a:xfrm>
            <a:off x="6428232" y="2459736"/>
            <a:ext cx="498348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Econ buyer: CFO / COO / CIO</a:t>
            </a:r>
          </a:p>
          <a:p>
            <a:pPr algn="l">
              <a:lnSpc>
                <a:spcPct val="106000"/>
              </a:lnSpc>
              <a:spcBef>
                <a:spcPts val="600"/>
              </a:spcBef>
            </a:pPr>
            <a:r>
              <a:rPr sz="1100" b="0" i="0">
                <a:solidFill>
                  <a:srgbClr val="1B2B3C"/>
                </a:solidFill>
                <a:latin typeface="Calibri"/>
              </a:rPr>
              <a:t>•  Champions: VP Eng/CTO, RevOps, Controller, Head of CX, CISO, Legal Ops</a:t>
            </a:r>
          </a:p>
          <a:p>
            <a:pPr algn="l">
              <a:lnSpc>
                <a:spcPct val="106000"/>
              </a:lnSpc>
              <a:spcBef>
                <a:spcPts val="600"/>
              </a:spcBef>
            </a:pPr>
            <a:r>
              <a:rPr sz="1100" b="0" i="0">
                <a:solidFill>
                  <a:srgbClr val="1B2B3C"/>
                </a:solidFill>
                <a:latin typeface="Calibri"/>
              </a:rPr>
              <a:t>•  Pain owner who is measured on the broken workflow</a:t>
            </a:r>
          </a:p>
        </p:txBody>
      </p:sp>
      <p:sp>
        <p:nvSpPr>
          <p:cNvPr id="15" name="Rounded Rectangle 14"/>
          <p:cNvSpPr/>
          <p:nvPr/>
        </p:nvSpPr>
        <p:spPr>
          <a:xfrm>
            <a:off x="548640" y="3749039"/>
            <a:ext cx="544068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49039"/>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95343"/>
            <a:ext cx="498348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TRIGGER SIGNALS (the hunt)</a:t>
            </a:r>
          </a:p>
        </p:txBody>
      </p:sp>
      <p:sp>
        <p:nvSpPr>
          <p:cNvPr id="18" name="TextBox 17"/>
          <p:cNvSpPr txBox="1"/>
          <p:nvPr/>
        </p:nvSpPr>
        <p:spPr>
          <a:xfrm>
            <a:off x="822960" y="4425695"/>
            <a:ext cx="493776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Salesforce CPQ End-of-Sale; low-code license re-pricing</a:t>
            </a:r>
          </a:p>
          <a:p>
            <a:pPr algn="l">
              <a:lnSpc>
                <a:spcPct val="106000"/>
              </a:lnSpc>
              <a:spcBef>
                <a:spcPts val="600"/>
              </a:spcBef>
            </a:pPr>
            <a:r>
              <a:rPr sz="1100" b="0" i="0">
                <a:solidFill>
                  <a:srgbClr val="1B2B3C"/>
                </a:solidFill>
                <a:latin typeface="Calibri"/>
              </a:rPr>
              <a:t>•  SOC-analyst job posts; failed OCR rollout; legal 'which-tools' review</a:t>
            </a:r>
          </a:p>
          <a:p>
            <a:pPr algn="l">
              <a:lnSpc>
                <a:spcPct val="106000"/>
              </a:lnSpc>
              <a:spcBef>
                <a:spcPts val="600"/>
              </a:spcBef>
            </a:pPr>
            <a:r>
              <a:rPr sz="1100" b="0" i="0">
                <a:solidFill>
                  <a:srgbClr val="1B2B3C"/>
                </a:solidFill>
                <a:latin typeface="Calibri"/>
              </a:rPr>
              <a:t>•  Onboarding pain; month-end close slipping; dashboard sprawl</a:t>
            </a:r>
          </a:p>
        </p:txBody>
      </p:sp>
      <p:sp>
        <p:nvSpPr>
          <p:cNvPr id="19" name="Rounded Rectangle 18"/>
          <p:cNvSpPr/>
          <p:nvPr/>
        </p:nvSpPr>
        <p:spPr>
          <a:xfrm>
            <a:off x="6153912" y="3749039"/>
            <a:ext cx="5486400" cy="18288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749039"/>
            <a:ext cx="109728"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895343"/>
            <a:ext cx="50292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E05A6B"/>
                </a:solidFill>
                <a:latin typeface="Calibri"/>
              </a:rPr>
              <a:t>DISQUALIFIERS</a:t>
            </a:r>
          </a:p>
        </p:txBody>
      </p:sp>
      <p:sp>
        <p:nvSpPr>
          <p:cNvPr id="22" name="TextBox 21"/>
          <p:cNvSpPr txBox="1"/>
          <p:nvPr/>
        </p:nvSpPr>
        <p:spPr>
          <a:xfrm>
            <a:off x="6428232" y="4425695"/>
            <a:ext cx="4983480" cy="10058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Pure SMB (&lt;50 staff) → a self-serve SMB tool fits better</a:t>
            </a:r>
          </a:p>
          <a:p>
            <a:pPr algn="l">
              <a:lnSpc>
                <a:spcPct val="106000"/>
              </a:lnSpc>
              <a:spcBef>
                <a:spcPts val="600"/>
              </a:spcBef>
            </a:pPr>
            <a:r>
              <a:rPr sz="1100" b="0" i="0">
                <a:solidFill>
                  <a:srgbClr val="1B2B3C"/>
                </a:solidFill>
                <a:latin typeface="Calibri"/>
              </a:rPr>
              <a:t>•  Global 2000 → a Global SI / direct AI-native deal</a:t>
            </a:r>
          </a:p>
          <a:p>
            <a:pPr algn="l">
              <a:lnSpc>
                <a:spcPct val="106000"/>
              </a:lnSpc>
              <a:spcBef>
                <a:spcPts val="600"/>
              </a:spcBef>
            </a:pPr>
            <a:r>
              <a:rPr sz="1100" b="0" i="0">
                <a:solidFill>
                  <a:srgbClr val="1B2B3C"/>
                </a:solidFill>
                <a:latin typeface="Calibri"/>
              </a:rPr>
              <a:t>•  No system of record / no owned data to wire into</a:t>
            </a:r>
          </a:p>
        </p:txBody>
      </p:sp>
      <p:sp>
        <p:nvSpPr>
          <p:cNvPr id="23" name="Rounded Rectangle 22"/>
          <p:cNvSpPr/>
          <p:nvPr/>
        </p:nvSpPr>
        <p:spPr>
          <a:xfrm>
            <a:off x="548640" y="5715000"/>
            <a:ext cx="11094415" cy="777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7215" cy="77724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ICP in one line: a 200–2,000-person company with a real system of record, a measured pain owner, and a forced trigger — that can't afford the enterprise tool and can't staff the integration.</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34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Three productized service lines map to the three delivery postures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BUILD, INTEGRATE &amp; operate, DEPLOY &amp; tune — each a repeatable offer, not a bespoke project</a:t>
            </a:r>
          </a:p>
        </p:txBody>
      </p:sp>
      <p:sp>
        <p:nvSpPr>
          <p:cNvPr id="7" name="Rounded Rectangle 6"/>
          <p:cNvSpPr/>
          <p:nvPr/>
        </p:nvSpPr>
        <p:spPr>
          <a:xfrm>
            <a:off x="548640" y="1783080"/>
            <a:ext cx="3566160" cy="36576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BUILD STUDIO</a:t>
            </a:r>
          </a:p>
        </p:txBody>
      </p:sp>
      <p:sp>
        <p:nvSpPr>
          <p:cNvPr id="10" name="TextBox 9"/>
          <p:cNvSpPr txBox="1"/>
          <p:nvPr/>
        </p:nvSpPr>
        <p:spPr>
          <a:xfrm>
            <a:off x="822960" y="2459736"/>
            <a:ext cx="3063240" cy="2834640"/>
          </a:xfrm>
          <a:prstGeom prst="rect">
            <a:avLst/>
          </a:prstGeom>
          <a:noFill/>
        </p:spPr>
        <p:txBody>
          <a:bodyPr wrap="square" anchor="t" lIns="0" rIns="0" tIns="0" bIns="0">
            <a:normAutofit/>
          </a:bodyPr>
          <a:lstStyle/>
          <a:p>
            <a:pPr algn="l">
              <a:lnSpc>
                <a:spcPct val="106000"/>
              </a:lnSpc>
              <a:spcBef>
                <a:spcPts val="600"/>
              </a:spcBef>
            </a:pPr>
            <a:r>
              <a:rPr sz="1100" b="0" i="0">
                <a:solidFill>
                  <a:srgbClr val="E0F7F1"/>
                </a:solidFill>
                <a:latin typeface="Calibri"/>
              </a:rPr>
              <a:t>•  Owned-code outcomes: legacy modernization, low-code escape, custom agents</a:t>
            </a:r>
          </a:p>
          <a:p>
            <a:pPr algn="l">
              <a:lnSpc>
                <a:spcPct val="106000"/>
              </a:lnSpc>
              <a:spcBef>
                <a:spcPts val="600"/>
              </a:spcBef>
            </a:pPr>
            <a:r>
              <a:rPr sz="1100" b="0" i="0">
                <a:solidFill>
                  <a:srgbClr val="E0F7F1"/>
                </a:solidFill>
                <a:latin typeface="Calibri"/>
              </a:rPr>
              <a:t>•  Behavior-grounded; client keeps the code</a:t>
            </a:r>
          </a:p>
          <a:p>
            <a:pPr algn="l">
              <a:lnSpc>
                <a:spcPct val="106000"/>
              </a:lnSpc>
              <a:spcBef>
                <a:spcPts val="600"/>
              </a:spcBef>
            </a:pPr>
            <a:r>
              <a:rPr sz="1100" b="0" i="0">
                <a:solidFill>
                  <a:srgbClr val="E0F7F1"/>
                </a:solidFill>
                <a:latin typeface="Calibri"/>
              </a:rPr>
              <a:t>•  Shape: fixed-scope project + maintenance retainer</a:t>
            </a:r>
          </a:p>
          <a:p>
            <a:pPr algn="l">
              <a:lnSpc>
                <a:spcPct val="106000"/>
              </a:lnSpc>
              <a:spcBef>
                <a:spcPts val="600"/>
              </a:spcBef>
            </a:pPr>
            <a:r>
              <a:rPr sz="1100" b="0" i="0">
                <a:solidFill>
                  <a:srgbClr val="E0F7F1"/>
                </a:solidFill>
                <a:latin typeface="Calibri"/>
              </a:rPr>
              <a:t>•  Timeline: weeks–months</a:t>
            </a:r>
          </a:p>
        </p:txBody>
      </p:sp>
      <p:sp>
        <p:nvSpPr>
          <p:cNvPr id="11" name="Rounded Rectangle 10"/>
          <p:cNvSpPr/>
          <p:nvPr/>
        </p:nvSpPr>
        <p:spPr>
          <a:xfrm>
            <a:off x="4261104" y="1783080"/>
            <a:ext cx="3566160" cy="36576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61104" y="1783080"/>
            <a:ext cx="10972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INTEGRATE &amp; OPERATE</a:t>
            </a:r>
          </a:p>
        </p:txBody>
      </p:sp>
      <p:sp>
        <p:nvSpPr>
          <p:cNvPr id="14" name="TextBox 13"/>
          <p:cNvSpPr txBox="1"/>
          <p:nvPr/>
        </p:nvSpPr>
        <p:spPr>
          <a:xfrm>
            <a:off x="4535424" y="2459736"/>
            <a:ext cx="3063240" cy="28346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Wire a best-of-breed agent into the SoR + own the workflow + governance</a:t>
            </a:r>
          </a:p>
          <a:p>
            <a:pPr algn="l">
              <a:lnSpc>
                <a:spcPct val="106000"/>
              </a:lnSpc>
              <a:spcBef>
                <a:spcPts val="600"/>
              </a:spcBef>
            </a:pPr>
            <a:r>
              <a:rPr sz="1100" b="0" i="0">
                <a:solidFill>
                  <a:srgbClr val="1B2B3C"/>
                </a:solidFill>
                <a:latin typeface="Calibri"/>
              </a:rPr>
              <a:t>•  CPQ, AP, support, legal, search, fraud, GRC</a:t>
            </a:r>
          </a:p>
          <a:p>
            <a:pPr algn="l">
              <a:lnSpc>
                <a:spcPct val="106000"/>
              </a:lnSpc>
              <a:spcBef>
                <a:spcPts val="600"/>
              </a:spcBef>
            </a:pPr>
            <a:r>
              <a:rPr sz="1100" b="0" i="0">
                <a:solidFill>
                  <a:srgbClr val="1B2B3C"/>
                </a:solidFill>
                <a:latin typeface="Calibri"/>
              </a:rPr>
              <a:t>•  Shape: monthly managed (recurring)</a:t>
            </a:r>
          </a:p>
          <a:p>
            <a:pPr algn="l">
              <a:lnSpc>
                <a:spcPct val="106000"/>
              </a:lnSpc>
              <a:spcBef>
                <a:spcPts val="600"/>
              </a:spcBef>
            </a:pPr>
            <a:r>
              <a:rPr sz="1100" b="0" i="0">
                <a:solidFill>
                  <a:srgbClr val="1B2B3C"/>
                </a:solidFill>
                <a:latin typeface="Calibri"/>
              </a:rPr>
              <a:t>•  Timeline: 2–6 week standup</a:t>
            </a:r>
          </a:p>
        </p:txBody>
      </p:sp>
      <p:sp>
        <p:nvSpPr>
          <p:cNvPr id="15" name="Rounded Rectangle 14"/>
          <p:cNvSpPr/>
          <p:nvPr/>
        </p:nvSpPr>
        <p:spPr>
          <a:xfrm>
            <a:off x="7973568" y="1783080"/>
            <a:ext cx="3657600" cy="36576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73568" y="1783080"/>
            <a:ext cx="109728" cy="36576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2004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DEPLOY &amp; TUNE</a:t>
            </a:r>
          </a:p>
        </p:txBody>
      </p:sp>
      <p:sp>
        <p:nvSpPr>
          <p:cNvPr id="18" name="TextBox 17"/>
          <p:cNvSpPr txBox="1"/>
          <p:nvPr/>
        </p:nvSpPr>
        <p:spPr>
          <a:xfrm>
            <a:off x="8247888" y="2459736"/>
            <a:ext cx="3154680" cy="28346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Stand up + tune a mature tool the client can't run alone</a:t>
            </a:r>
          </a:p>
          <a:p>
            <a:pPr algn="l">
              <a:lnSpc>
                <a:spcPct val="106000"/>
              </a:lnSpc>
              <a:spcBef>
                <a:spcPts val="600"/>
              </a:spcBef>
            </a:pPr>
            <a:r>
              <a:rPr sz="1100" b="0" i="0">
                <a:solidFill>
                  <a:srgbClr val="1B2B3C"/>
                </a:solidFill>
                <a:latin typeface="Calibri"/>
              </a:rPr>
              <a:t>•  SIEM investigation, predictive ops, code review, agent-assist</a:t>
            </a:r>
          </a:p>
          <a:p>
            <a:pPr algn="l">
              <a:lnSpc>
                <a:spcPct val="106000"/>
              </a:lnSpc>
              <a:spcBef>
                <a:spcPts val="600"/>
              </a:spcBef>
            </a:pPr>
            <a:r>
              <a:rPr sz="1100" b="0" i="0">
                <a:solidFill>
                  <a:srgbClr val="1B2B3C"/>
                </a:solidFill>
                <a:latin typeface="Calibri"/>
              </a:rPr>
              <a:t>•  Shape: onboarding fee + retainer</a:t>
            </a:r>
          </a:p>
          <a:p>
            <a:pPr algn="l">
              <a:lnSpc>
                <a:spcPct val="106000"/>
              </a:lnSpc>
              <a:spcBef>
                <a:spcPts val="600"/>
              </a:spcBef>
            </a:pPr>
            <a:r>
              <a:rPr sz="1100" b="0" i="0">
                <a:solidFill>
                  <a:srgbClr val="1B2B3C"/>
                </a:solidFill>
                <a:latin typeface="Calibri"/>
              </a:rPr>
              <a:t>•  Timeline: days–weeks</a:t>
            </a:r>
          </a:p>
        </p:txBody>
      </p:sp>
      <p:sp>
        <p:nvSpPr>
          <p:cNvPr id="19" name="Rounded Rectangle 18"/>
          <p:cNvSpPr/>
          <p:nvPr/>
        </p:nvSpPr>
        <p:spPr>
          <a:xfrm>
            <a:off x="548640" y="5623560"/>
            <a:ext cx="11094415" cy="8229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623560"/>
            <a:ext cx="10637215" cy="82296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One sales motion, three fulfilment shapes: BUILD earns trust (owned code), INTEGRATE drives recurring volume, DEPLOY lands fast wins — and all three expand into each other.</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35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Pricing blends a fixed build fee with a managed monthly — predictable for the buyer, recurring for us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Positioned below every enterprise floor; designed for land-and-expand  (illustrative tiers)</a:t>
            </a:r>
          </a:p>
        </p:txBody>
      </p:sp>
      <p:sp>
        <p:nvSpPr>
          <p:cNvPr id="7" name="Rounded Rectangle 6"/>
          <p:cNvSpPr/>
          <p:nvPr/>
        </p:nvSpPr>
        <p:spPr>
          <a:xfrm>
            <a:off x="548640" y="1783080"/>
            <a:ext cx="2606040" cy="29260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PILOT / LAND</a:t>
            </a:r>
          </a:p>
        </p:txBody>
      </p:sp>
      <p:sp>
        <p:nvSpPr>
          <p:cNvPr id="9" name="TextBox 8"/>
          <p:cNvSpPr txBox="1"/>
          <p:nvPr/>
        </p:nvSpPr>
        <p:spPr>
          <a:xfrm>
            <a:off x="731520"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9B82"/>
                </a:solidFill>
                <a:latin typeface="Calibri"/>
              </a:rPr>
              <a:t>~$2–3k / mo</a:t>
            </a:r>
          </a:p>
        </p:txBody>
      </p:sp>
      <p:sp>
        <p:nvSpPr>
          <p:cNvPr id="10" name="TextBox 9"/>
          <p:cNvSpPr txBox="1"/>
          <p:nvPr/>
        </p:nvSpPr>
        <p:spPr>
          <a:xfrm>
            <a:off x="731520"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1B2B3C"/>
                </a:solidFill>
                <a:latin typeface="Calibri"/>
              </a:rPr>
              <a:t>1 use case, INTEGRATE or DEPLOY</a:t>
            </a:r>
          </a:p>
          <a:p>
            <a:pPr algn="l">
              <a:lnSpc>
                <a:spcPct val="106000"/>
              </a:lnSpc>
              <a:spcBef>
                <a:spcPts val="800"/>
              </a:spcBef>
            </a:pPr>
            <a:r>
              <a:rPr sz="1050" b="0" i="1">
                <a:solidFill>
                  <a:srgbClr val="5B6B7C"/>
                </a:solidFill>
                <a:latin typeface="Calibri"/>
              </a:rPr>
              <a:t>2–4 wk standup</a:t>
            </a:r>
          </a:p>
        </p:txBody>
      </p:sp>
      <p:sp>
        <p:nvSpPr>
          <p:cNvPr id="11" name="Rounded Rectangle 10"/>
          <p:cNvSpPr/>
          <p:nvPr/>
        </p:nvSpPr>
        <p:spPr>
          <a:xfrm>
            <a:off x="3319272" y="1783080"/>
            <a:ext cx="2606040" cy="29260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GROWTH</a:t>
            </a:r>
          </a:p>
        </p:txBody>
      </p:sp>
      <p:sp>
        <p:nvSpPr>
          <p:cNvPr id="13" name="TextBox 12"/>
          <p:cNvSpPr txBox="1"/>
          <p:nvPr/>
        </p:nvSpPr>
        <p:spPr>
          <a:xfrm>
            <a:off x="3502152"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9B82"/>
                </a:solidFill>
                <a:latin typeface="Calibri"/>
              </a:rPr>
              <a:t>~$5–8k / mo</a:t>
            </a:r>
          </a:p>
        </p:txBody>
      </p:sp>
      <p:sp>
        <p:nvSpPr>
          <p:cNvPr id="14" name="TextBox 13"/>
          <p:cNvSpPr txBox="1"/>
          <p:nvPr/>
        </p:nvSpPr>
        <p:spPr>
          <a:xfrm>
            <a:off x="3502152"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1B2B3C"/>
                </a:solidFill>
                <a:latin typeface="Calibri"/>
              </a:rPr>
              <a:t>2–3 use cases + governance</a:t>
            </a:r>
          </a:p>
          <a:p>
            <a:pPr algn="l">
              <a:lnSpc>
                <a:spcPct val="106000"/>
              </a:lnSpc>
              <a:spcBef>
                <a:spcPts val="800"/>
              </a:spcBef>
            </a:pPr>
            <a:r>
              <a:rPr sz="1050" b="0" i="1">
                <a:solidFill>
                  <a:srgbClr val="5B6B7C"/>
                </a:solidFill>
                <a:latin typeface="Calibri"/>
              </a:rPr>
              <a:t>land-and-expand</a:t>
            </a:r>
          </a:p>
        </p:txBody>
      </p:sp>
      <p:sp>
        <p:nvSpPr>
          <p:cNvPr id="15" name="Rounded Rectangle 14"/>
          <p:cNvSpPr/>
          <p:nvPr/>
        </p:nvSpPr>
        <p:spPr>
          <a:xfrm>
            <a:off x="6089904" y="1783080"/>
            <a:ext cx="2606040" cy="29260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4"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MULTI-FUNCTION</a:t>
            </a:r>
          </a:p>
        </p:txBody>
      </p:sp>
      <p:sp>
        <p:nvSpPr>
          <p:cNvPr id="17" name="TextBox 16"/>
          <p:cNvSpPr txBox="1"/>
          <p:nvPr/>
        </p:nvSpPr>
        <p:spPr>
          <a:xfrm>
            <a:off x="6272784"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9B82"/>
                </a:solidFill>
                <a:latin typeface="Calibri"/>
              </a:rPr>
              <a:t>~$10–15k / mo</a:t>
            </a:r>
          </a:p>
        </p:txBody>
      </p:sp>
      <p:sp>
        <p:nvSpPr>
          <p:cNvPr id="18" name="TextBox 17"/>
          <p:cNvSpPr txBox="1"/>
          <p:nvPr/>
        </p:nvSpPr>
        <p:spPr>
          <a:xfrm>
            <a:off x="6272784"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1B2B3C"/>
                </a:solidFill>
                <a:latin typeface="Calibri"/>
              </a:rPr>
              <a:t>Cross-function managed program</a:t>
            </a:r>
          </a:p>
          <a:p>
            <a:pPr algn="l">
              <a:lnSpc>
                <a:spcPct val="106000"/>
              </a:lnSpc>
              <a:spcBef>
                <a:spcPts val="800"/>
              </a:spcBef>
            </a:pPr>
            <a:r>
              <a:rPr sz="1050" b="0" i="1">
                <a:solidFill>
                  <a:srgbClr val="5B6B7C"/>
                </a:solidFill>
                <a:latin typeface="Calibri"/>
              </a:rPr>
              <a:t>quarterly expansion</a:t>
            </a:r>
          </a:p>
        </p:txBody>
      </p:sp>
      <p:sp>
        <p:nvSpPr>
          <p:cNvPr id="19" name="Rounded Rectangle 18"/>
          <p:cNvSpPr/>
          <p:nvPr/>
        </p:nvSpPr>
        <p:spPr>
          <a:xfrm>
            <a:off x="8860536" y="1783080"/>
            <a:ext cx="2606040" cy="292608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43416" y="1920240"/>
            <a:ext cx="2286000"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FFB800"/>
                </a:solidFill>
                <a:latin typeface="Calibri"/>
              </a:rPr>
              <a:t>BUILD PROJECT</a:t>
            </a:r>
          </a:p>
        </p:txBody>
      </p:sp>
      <p:sp>
        <p:nvSpPr>
          <p:cNvPr id="21" name="TextBox 20"/>
          <p:cNvSpPr txBox="1"/>
          <p:nvPr/>
        </p:nvSpPr>
        <p:spPr>
          <a:xfrm>
            <a:off x="9043416" y="2331720"/>
            <a:ext cx="2286000" cy="548640"/>
          </a:xfrm>
          <a:prstGeom prst="rect">
            <a:avLst/>
          </a:prstGeom>
          <a:noFill/>
        </p:spPr>
        <p:txBody>
          <a:bodyPr wrap="square" anchor="t" lIns="0" rIns="0" tIns="0" bIns="0">
            <a:normAutofit/>
          </a:bodyPr>
          <a:lstStyle/>
          <a:p>
            <a:pPr algn="l">
              <a:lnSpc>
                <a:spcPct val="105000"/>
              </a:lnSpc>
              <a:spcBef>
                <a:spcPts val="0"/>
              </a:spcBef>
            </a:pPr>
            <a:r>
              <a:rPr sz="1700" b="1" i="0">
                <a:solidFill>
                  <a:srgbClr val="00C9A7"/>
                </a:solidFill>
                <a:latin typeface="Calibri"/>
              </a:rPr>
              <a:t>~$40–150k fixed + retainer</a:t>
            </a:r>
          </a:p>
        </p:txBody>
      </p:sp>
      <p:sp>
        <p:nvSpPr>
          <p:cNvPr id="22" name="TextBox 21"/>
          <p:cNvSpPr txBox="1"/>
          <p:nvPr/>
        </p:nvSpPr>
        <p:spPr>
          <a:xfrm>
            <a:off x="9043416" y="3017520"/>
            <a:ext cx="2286000" cy="1554480"/>
          </a:xfrm>
          <a:prstGeom prst="rect">
            <a:avLst/>
          </a:prstGeom>
          <a:noFill/>
        </p:spPr>
        <p:txBody>
          <a:bodyPr wrap="square" anchor="t" lIns="0" rIns="0" tIns="0" bIns="0">
            <a:normAutofit/>
          </a:bodyPr>
          <a:lstStyle/>
          <a:p>
            <a:pPr algn="l">
              <a:lnSpc>
                <a:spcPct val="106000"/>
              </a:lnSpc>
              <a:spcBef>
                <a:spcPts val="200"/>
              </a:spcBef>
            </a:pPr>
            <a:r>
              <a:rPr sz="1100" b="0" i="0">
                <a:solidFill>
                  <a:srgbClr val="E0F7F1"/>
                </a:solidFill>
                <a:latin typeface="Calibri"/>
              </a:rPr>
              <a:t>Owned-code modernization / escape</a:t>
            </a:r>
          </a:p>
          <a:p>
            <a:pPr algn="l">
              <a:lnSpc>
                <a:spcPct val="106000"/>
              </a:lnSpc>
              <a:spcBef>
                <a:spcPts val="800"/>
              </a:spcBef>
            </a:pPr>
            <a:r>
              <a:rPr sz="1050" b="0" i="1">
                <a:solidFill>
                  <a:srgbClr val="5B6B7C"/>
                </a:solidFill>
                <a:latin typeface="Calibri"/>
              </a:rPr>
              <a:t>milestone-based</a:t>
            </a:r>
          </a:p>
        </p:txBody>
      </p:sp>
      <p:sp>
        <p:nvSpPr>
          <p:cNvPr id="23" name="Rounded Rectangle 22"/>
          <p:cNvSpPr/>
          <p:nvPr/>
        </p:nvSpPr>
        <p:spPr>
          <a:xfrm>
            <a:off x="548640" y="4937760"/>
            <a:ext cx="11094415" cy="9144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37760"/>
            <a:ext cx="10637215" cy="91440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Anchor vs the floor: incumbents start at $40K (search) → $360K/yr (legal). DataStaqAI's $24–60K/yr band undercuts them while delivering the outcome the cheaper SMB tools don't. (Illustrative — refine with win/loss.)</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36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Delivery runs on engineering leverage — agents build for us, so margin scales with reuse, not headcount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 reusable agent + connector library makes each new engagement cheaper than the last</a:t>
            </a:r>
          </a:p>
        </p:txBody>
      </p:sp>
      <p:sp>
        <p:nvSpPr>
          <p:cNvPr id="7" name="Rounded Rectangle 6"/>
          <p:cNvSpPr/>
          <p:nvPr/>
        </p:nvSpPr>
        <p:spPr>
          <a:xfrm>
            <a:off x="54864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Discover + qualify</a:t>
            </a:r>
          </a:p>
        </p:txBody>
      </p:sp>
      <p:sp>
        <p:nvSpPr>
          <p:cNvPr id="9" name="TextBox 8"/>
          <p:cNvSpPr txBox="1"/>
          <p:nvPr/>
        </p:nvSpPr>
        <p:spPr>
          <a:xfrm>
            <a:off x="260604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278892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Wire / BUILD (OpenHands + subagents + MCPs)</a:t>
            </a:r>
          </a:p>
        </p:txBody>
      </p:sp>
      <p:sp>
        <p:nvSpPr>
          <p:cNvPr id="12" name="TextBox 11"/>
          <p:cNvSpPr txBox="1"/>
          <p:nvPr/>
        </p:nvSpPr>
        <p:spPr>
          <a:xfrm>
            <a:off x="484632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02920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Govern (policy + provenance)</a:t>
            </a:r>
          </a:p>
        </p:txBody>
      </p:sp>
      <p:sp>
        <p:nvSpPr>
          <p:cNvPr id="15" name="TextBox 14"/>
          <p:cNvSpPr txBox="1"/>
          <p:nvPr/>
        </p:nvSpPr>
        <p:spPr>
          <a:xfrm>
            <a:off x="708660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726948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Operate + monitor</a:t>
            </a:r>
          </a:p>
        </p:txBody>
      </p:sp>
      <p:sp>
        <p:nvSpPr>
          <p:cNvPr id="18" name="TextBox 17"/>
          <p:cNvSpPr txBox="1"/>
          <p:nvPr/>
        </p:nvSpPr>
        <p:spPr>
          <a:xfrm>
            <a:off x="932688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9" name="Rounded Rectangle 18"/>
          <p:cNvSpPr/>
          <p:nvPr/>
        </p:nvSpPr>
        <p:spPr>
          <a:xfrm>
            <a:off x="9509760" y="178308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783080"/>
            <a:ext cx="1874519"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Expand</a:t>
            </a:r>
          </a:p>
        </p:txBody>
      </p:sp>
      <p:sp>
        <p:nvSpPr>
          <p:cNvPr id="21" name="Rounded Rectangle 20"/>
          <p:cNvSpPr/>
          <p:nvPr/>
        </p:nvSpPr>
        <p:spPr>
          <a:xfrm>
            <a:off x="548640" y="2926080"/>
            <a:ext cx="544068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926080"/>
            <a:ext cx="109728"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072384"/>
            <a:ext cx="498348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THE LEVERAGE</a:t>
            </a:r>
          </a:p>
        </p:txBody>
      </p:sp>
      <p:sp>
        <p:nvSpPr>
          <p:cNvPr id="24" name="TextBox 23"/>
          <p:cNvSpPr txBox="1"/>
          <p:nvPr/>
        </p:nvSpPr>
        <p:spPr>
          <a:xfrm>
            <a:off x="822960" y="3602736"/>
            <a:ext cx="4937760" cy="155448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Reusable agents, connectors (MCPs) &amp; workflow templates compound across clients</a:t>
            </a:r>
          </a:p>
          <a:p>
            <a:pPr algn="l">
              <a:lnSpc>
                <a:spcPct val="106000"/>
              </a:lnSpc>
              <a:spcBef>
                <a:spcPts val="600"/>
              </a:spcBef>
            </a:pPr>
            <a:r>
              <a:rPr sz="1100" b="0" i="0">
                <a:solidFill>
                  <a:srgbClr val="1B2B3C"/>
                </a:solidFill>
                <a:latin typeface="Calibri"/>
              </a:rPr>
              <a:t>•  Each engagement adds to the library → next one is faster &amp; cheaper</a:t>
            </a:r>
          </a:p>
          <a:p>
            <a:pPr algn="l">
              <a:lnSpc>
                <a:spcPct val="106000"/>
              </a:lnSpc>
              <a:spcBef>
                <a:spcPts val="600"/>
              </a:spcBef>
            </a:pPr>
            <a:r>
              <a:rPr sz="1100" b="0" i="0">
                <a:solidFill>
                  <a:srgbClr val="1B2B3C"/>
                </a:solidFill>
                <a:latin typeface="Calibri"/>
              </a:rPr>
              <a:t>•  Junior delivery staff execute against productized scope</a:t>
            </a:r>
          </a:p>
          <a:p>
            <a:pPr algn="l">
              <a:lnSpc>
                <a:spcPct val="106000"/>
              </a:lnSpc>
              <a:spcBef>
                <a:spcPts val="600"/>
              </a:spcBef>
            </a:pPr>
            <a:r>
              <a:rPr sz="1100" b="0" i="0">
                <a:solidFill>
                  <a:srgbClr val="1B2B3C"/>
                </a:solidFill>
                <a:latin typeface="Calibri"/>
              </a:rPr>
              <a:t>•  Gross margin rises with reuse, not with headcount</a:t>
            </a:r>
          </a:p>
        </p:txBody>
      </p:sp>
      <p:sp>
        <p:nvSpPr>
          <p:cNvPr id="25" name="Rounded Rectangle 24"/>
          <p:cNvSpPr/>
          <p:nvPr/>
        </p:nvSpPr>
        <p:spPr>
          <a:xfrm>
            <a:off x="6153912" y="2926080"/>
            <a:ext cx="5486400" cy="237744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2926080"/>
            <a:ext cx="109728"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2" y="3072384"/>
            <a:ext cx="50292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0C9A7"/>
                </a:solidFill>
                <a:latin typeface="Calibri"/>
              </a:rPr>
              <a:t>WHY IT'S NOT A BODY-SHOP</a:t>
            </a:r>
          </a:p>
        </p:txBody>
      </p:sp>
      <p:sp>
        <p:nvSpPr>
          <p:cNvPr id="28" name="TextBox 27"/>
          <p:cNvSpPr txBox="1"/>
          <p:nvPr/>
        </p:nvSpPr>
        <p:spPr>
          <a:xfrm>
            <a:off x="6428232" y="3602736"/>
            <a:ext cx="4983480" cy="1554480"/>
          </a:xfrm>
          <a:prstGeom prst="rect">
            <a:avLst/>
          </a:prstGeom>
          <a:noFill/>
        </p:spPr>
        <p:txBody>
          <a:bodyPr wrap="square" anchor="t" lIns="0" rIns="0" tIns="0" bIns="0">
            <a:normAutofit/>
          </a:bodyPr>
          <a:lstStyle/>
          <a:p>
            <a:pPr algn="l">
              <a:lnSpc>
                <a:spcPct val="106000"/>
              </a:lnSpc>
              <a:spcBef>
                <a:spcPts val="600"/>
              </a:spcBef>
            </a:pPr>
            <a:r>
              <a:rPr sz="1100" b="0" i="0">
                <a:solidFill>
                  <a:srgbClr val="E0F7F1"/>
                </a:solidFill>
                <a:latin typeface="Calibri"/>
              </a:rPr>
              <a:t>•  SIs scale with billable hours; we scale with reusable software assets</a:t>
            </a:r>
          </a:p>
          <a:p>
            <a:pPr algn="l">
              <a:lnSpc>
                <a:spcPct val="106000"/>
              </a:lnSpc>
              <a:spcBef>
                <a:spcPts val="600"/>
              </a:spcBef>
            </a:pPr>
            <a:r>
              <a:rPr sz="1100" b="0" i="0">
                <a:solidFill>
                  <a:srgbClr val="E0F7F1"/>
                </a:solidFill>
                <a:latin typeface="Calibri"/>
              </a:rPr>
              <a:t>•  Target gross margin trends toward software as the library matures</a:t>
            </a:r>
          </a:p>
          <a:p>
            <a:pPr algn="l">
              <a:lnSpc>
                <a:spcPct val="106000"/>
              </a:lnSpc>
              <a:spcBef>
                <a:spcPts val="600"/>
              </a:spcBef>
            </a:pPr>
            <a:r>
              <a:rPr sz="1100" b="0" i="0">
                <a:solidFill>
                  <a:srgbClr val="E0F7F1"/>
                </a:solidFill>
                <a:latin typeface="Calibri"/>
              </a:rPr>
              <a:t>•  Outcome-priced, not time-and-materials</a:t>
            </a:r>
          </a:p>
          <a:p>
            <a:pPr algn="l">
              <a:lnSpc>
                <a:spcPct val="106000"/>
              </a:lnSpc>
              <a:spcBef>
                <a:spcPts val="600"/>
              </a:spcBef>
            </a:pPr>
            <a:r>
              <a:rPr sz="1100" b="0" i="0">
                <a:solidFill>
                  <a:srgbClr val="E0F7F1"/>
                </a:solidFill>
                <a:latin typeface="Calibri"/>
              </a:rPr>
              <a:t>•  The library is a compounding moat competitors must rebuild</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37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Revenue compounds: land a use case, expand across functions, on a recurring managed base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Recurring managed retainers + build projects + expansion = durable, growing ARR  (illustrative mix)</a:t>
            </a:r>
          </a:p>
        </p:txBody>
      </p:sp>
      <p:sp>
        <p:nvSpPr>
          <p:cNvPr id="7" name="Rounded Rectangle 6"/>
          <p:cNvSpPr/>
          <p:nvPr/>
        </p:nvSpPr>
        <p:spPr>
          <a:xfrm>
            <a:off x="548640" y="1783080"/>
            <a:ext cx="3566160" cy="22860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0C9A7"/>
                </a:solidFill>
                <a:latin typeface="Calibri"/>
              </a:rPr>
              <a:t>RECURRING MANAGED  (~70%)</a:t>
            </a:r>
          </a:p>
        </p:txBody>
      </p:sp>
      <p:sp>
        <p:nvSpPr>
          <p:cNvPr id="10" name="TextBox 9"/>
          <p:cNvSpPr txBox="1"/>
          <p:nvPr/>
        </p:nvSpPr>
        <p:spPr>
          <a:xfrm>
            <a:off x="822960" y="2459736"/>
            <a:ext cx="3063240" cy="1463040"/>
          </a:xfrm>
          <a:prstGeom prst="rect">
            <a:avLst/>
          </a:prstGeom>
          <a:noFill/>
        </p:spPr>
        <p:txBody>
          <a:bodyPr wrap="square" anchor="t" lIns="0" rIns="0" tIns="0" bIns="0">
            <a:normAutofit/>
          </a:bodyPr>
          <a:lstStyle/>
          <a:p>
            <a:pPr algn="l">
              <a:lnSpc>
                <a:spcPct val="106000"/>
              </a:lnSpc>
              <a:spcBef>
                <a:spcPts val="600"/>
              </a:spcBef>
            </a:pPr>
            <a:r>
              <a:rPr sz="1100" b="0" i="0">
                <a:solidFill>
                  <a:srgbClr val="E0F7F1"/>
                </a:solidFill>
                <a:latin typeface="Calibri"/>
              </a:rPr>
              <a:t>•  Monthly INTEGRATE/DEPLOY retainers</a:t>
            </a:r>
          </a:p>
          <a:p>
            <a:pPr algn="l">
              <a:lnSpc>
                <a:spcPct val="106000"/>
              </a:lnSpc>
              <a:spcBef>
                <a:spcPts val="600"/>
              </a:spcBef>
            </a:pPr>
            <a:r>
              <a:rPr sz="1100" b="0" i="0">
                <a:solidFill>
                  <a:srgbClr val="E0F7F1"/>
                </a:solidFill>
                <a:latin typeface="Calibri"/>
              </a:rPr>
              <a:t>•  Predictable, compounding ARR base</a:t>
            </a:r>
          </a:p>
          <a:p>
            <a:pPr algn="l">
              <a:lnSpc>
                <a:spcPct val="106000"/>
              </a:lnSpc>
              <a:spcBef>
                <a:spcPts val="600"/>
              </a:spcBef>
            </a:pPr>
            <a:r>
              <a:rPr sz="1100" b="0" i="0">
                <a:solidFill>
                  <a:srgbClr val="E0F7F1"/>
                </a:solidFill>
                <a:latin typeface="Calibri"/>
              </a:rPr>
              <a:t>•  Sticky: wired into the SoR + governance</a:t>
            </a:r>
          </a:p>
        </p:txBody>
      </p:sp>
      <p:sp>
        <p:nvSpPr>
          <p:cNvPr id="11" name="Rounded Rectangle 10"/>
          <p:cNvSpPr/>
          <p:nvPr/>
        </p:nvSpPr>
        <p:spPr>
          <a:xfrm>
            <a:off x="4261104" y="1783080"/>
            <a:ext cx="356616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61104" y="1783080"/>
            <a:ext cx="109728"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929384"/>
            <a:ext cx="31089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BUILD PROJECTS  (~30%)</a:t>
            </a:r>
          </a:p>
        </p:txBody>
      </p:sp>
      <p:sp>
        <p:nvSpPr>
          <p:cNvPr id="14" name="TextBox 13"/>
          <p:cNvSpPr txBox="1"/>
          <p:nvPr/>
        </p:nvSpPr>
        <p:spPr>
          <a:xfrm>
            <a:off x="4535424" y="2459736"/>
            <a:ext cx="3063240" cy="14630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Fixed-fee owned-code engagements</a:t>
            </a:r>
          </a:p>
          <a:p>
            <a:pPr algn="l">
              <a:lnSpc>
                <a:spcPct val="106000"/>
              </a:lnSpc>
              <a:spcBef>
                <a:spcPts val="600"/>
              </a:spcBef>
            </a:pPr>
            <a:r>
              <a:rPr sz="1100" b="0" i="0">
                <a:solidFill>
                  <a:srgbClr val="1B2B3C"/>
                </a:solidFill>
                <a:latin typeface="Calibri"/>
              </a:rPr>
              <a:t>•  Funds delivery up front; high-trust entry</a:t>
            </a:r>
          </a:p>
          <a:p>
            <a:pPr algn="l">
              <a:lnSpc>
                <a:spcPct val="106000"/>
              </a:lnSpc>
              <a:spcBef>
                <a:spcPts val="600"/>
              </a:spcBef>
            </a:pPr>
            <a:r>
              <a:rPr sz="1100" b="0" i="0">
                <a:solidFill>
                  <a:srgbClr val="1B2B3C"/>
                </a:solidFill>
                <a:latin typeface="Calibri"/>
              </a:rPr>
              <a:t>•  Converts into managed retainers</a:t>
            </a:r>
          </a:p>
        </p:txBody>
      </p:sp>
      <p:sp>
        <p:nvSpPr>
          <p:cNvPr id="15" name="Rounded Rectangle 14"/>
          <p:cNvSpPr/>
          <p:nvPr/>
        </p:nvSpPr>
        <p:spPr>
          <a:xfrm>
            <a:off x="7973568" y="1783080"/>
            <a:ext cx="365760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73568" y="1783080"/>
            <a:ext cx="109728"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20040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EXPANSION  (NRR &gt; 100%)</a:t>
            </a:r>
          </a:p>
        </p:txBody>
      </p:sp>
      <p:sp>
        <p:nvSpPr>
          <p:cNvPr id="18" name="TextBox 17"/>
          <p:cNvSpPr txBox="1"/>
          <p:nvPr/>
        </p:nvSpPr>
        <p:spPr>
          <a:xfrm>
            <a:off x="8247888" y="2459736"/>
            <a:ext cx="3154680" cy="1463040"/>
          </a:xfrm>
          <a:prstGeom prst="rect">
            <a:avLst/>
          </a:prstGeom>
          <a:noFill/>
        </p:spPr>
        <p:txBody>
          <a:bodyPr wrap="square" anchor="t" lIns="0" rIns="0" tIns="0" bIns="0">
            <a:normAutofit/>
          </a:bodyPr>
          <a:lstStyle/>
          <a:p>
            <a:pPr algn="l">
              <a:lnSpc>
                <a:spcPct val="106000"/>
              </a:lnSpc>
              <a:spcBef>
                <a:spcPts val="600"/>
              </a:spcBef>
            </a:pPr>
            <a:r>
              <a:rPr sz="1100" b="0" i="0">
                <a:solidFill>
                  <a:srgbClr val="1B2B3C"/>
                </a:solidFill>
                <a:latin typeface="Calibri"/>
              </a:rPr>
              <a:t>•  Land 1 function → expand to 3–5</a:t>
            </a:r>
          </a:p>
          <a:p>
            <a:pPr algn="l">
              <a:lnSpc>
                <a:spcPct val="106000"/>
              </a:lnSpc>
              <a:spcBef>
                <a:spcPts val="600"/>
              </a:spcBef>
            </a:pPr>
            <a:r>
              <a:rPr sz="1100" b="0" i="0">
                <a:solidFill>
                  <a:srgbClr val="1B2B3C"/>
                </a:solidFill>
                <a:latin typeface="Calibri"/>
              </a:rPr>
              <a:t>•  Cross-sell BUILD ↔ INTEGRATE ↔ DEPLOY</a:t>
            </a:r>
          </a:p>
          <a:p>
            <a:pPr algn="l">
              <a:lnSpc>
                <a:spcPct val="106000"/>
              </a:lnSpc>
              <a:spcBef>
                <a:spcPts val="600"/>
              </a:spcBef>
            </a:pPr>
            <a:r>
              <a:rPr sz="1100" b="0" i="0">
                <a:solidFill>
                  <a:srgbClr val="1B2B3C"/>
                </a:solidFill>
                <a:latin typeface="Calibri"/>
              </a:rPr>
              <a:t>•  Net revenue retention is the growth engine</a:t>
            </a:r>
          </a:p>
        </p:txBody>
      </p:sp>
      <p:sp>
        <p:nvSpPr>
          <p:cNvPr id="19" name="Rounded Rectangle 18"/>
          <p:cNvSpPr/>
          <p:nvPr/>
        </p:nvSpPr>
        <p:spPr>
          <a:xfrm>
            <a:off x="548640" y="4343400"/>
            <a:ext cx="11094415" cy="914400"/>
          </a:xfrm>
          <a:prstGeom prst="roundRect">
            <a:avLst>
              <a:gd name="adj" fmla="val 3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34840"/>
            <a:ext cx="45720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LAND  →  EXPAND  →  COMPOUND</a:t>
            </a:r>
          </a:p>
        </p:txBody>
      </p:sp>
      <p:sp>
        <p:nvSpPr>
          <p:cNvPr id="21" name="TextBox 20"/>
          <p:cNvSpPr txBox="1"/>
          <p:nvPr/>
        </p:nvSpPr>
        <p:spPr>
          <a:xfrm>
            <a:off x="777240" y="4754880"/>
            <a:ext cx="10637215" cy="45720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Pilot one use case at $2–3k/mo  →  add functions to $10–15k/mo  →  layer BUILD projects  →  a growing recurring base with NRR-driven expansion. Few logos needed to reach $5–10M (Chapter 6 does the math).</a:t>
            </a:r>
          </a:p>
        </p:txBody>
      </p:sp>
      <p:sp>
        <p:nvSpPr>
          <p:cNvPr id="22" name="Rounded Rectangle 21"/>
          <p:cNvSpPr/>
          <p:nvPr/>
        </p:nvSpPr>
        <p:spPr>
          <a:xfrm>
            <a:off x="548640" y="5486400"/>
            <a:ext cx="11094415" cy="9144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486400"/>
            <a:ext cx="10637215" cy="91440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~70% recurring + ~30% build, with NRR&gt;100% — a services entry that compounds into software-like recurring revenue. (Illustrative mix; validated in Chapter 6.)</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5: Business Model</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38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
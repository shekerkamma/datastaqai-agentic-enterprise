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Customer Operations leads Chapter 3 because it is the function furthest along the transition and therefore the clearest proof of the thesis in production. Walk the current workflow: a ticket arrives, a human reads the knowledge base and customer history, applies a macro or drafts a reply, and either closes or escalates — a per-seat motion where cost scales with volume. The vendor landscape has split exactly as the thesis predicts: incumbents (Zendesk, Salesforce, Intercom, Freshdesk) defend the seat and bolt AI on, while AI-natives (Sierra at $15.8B, Decagon at $4.5B, Ada, Intercom Fin) sell the agent. The disruption is that grounded agents now resolve roughly 80% of tier-1 natively and bill per resolution at $0.40–1.50, so the seat count — not the system of record — is what collapses. The tell that the white space is real is that the AI-natives have bolted on managed and forward-deployed services because mid-market buyers cannot operate the agents alone. That is the opportunity: companies priced out of $50–150K platform floors and unable to staff agent engineers. DataStaqAI's position is INTEGRATE+WORKFLOW — wire a resolution-first agent into the helpdesk the customer already runs, bootstrap it off their ticket history so there is no cold-start, price it per ticket, and leave the ticketing system as the untouched system of record. The buyer keeps what they trust and gets the outcome — resolved tickets — without buying a second platform or a 1,000-ticket cold start. Use this slide to set the template the next nine follow: workflow today, who plays, what the agent changes, where the mid-market gap is, and how we deliver into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 is the cleanest example of a function splitting along a human/agent line. Today the motion is: build and enrich a list, research and personalize, run a sequence and follow up, then quote and close. The first three steps are SDR work; the last is closer work. The vendor split: incumbents Salesforce, HubSpot, Outreach, Salesloft and Gong own the sequencer and CRM, while AI-natives attack the SDR seat — 11x (Alice the outbound SDR, Julian the phone agent; ~$74M raised from Benchmark, a16z and HubSpot Ventures at a reported $350M valuation, customers like Xerox and Sage), Artisan's 'Ava,' Regie.ai, and Clay (~$46M) as the research layer. The disruption is that autonomous SDRs research, write, and book meetings without a human, reallocating the largest GTM line item — the ~$80K fully-loaded SDR seat — while on the quoting side conversational agents replace the record-by-record CPQ grid that reps abandon to Excel, made urgent by Salesforce CPQ's End-of-Sale. The opportunity is that the mid-market wants pipeline and quotes as an outcome, not a sprawling stack of an SDR tool plus a data vendor plus a warm-up tool that they must assemble and operate. DataStaqAI's position is INTEGRATE+WORKFLOW: wire prospecting and quoting agents into the CRM the company already runs, own the play design and the governance, and deliver pipeline and compliant quotes rather than another seat. Emphasize the boundary the slide draws — agents take the repeatable prospecting and quoting work; the human keeps the relationship and the close — because that boundary is what makes the pitch credible to a sales leader who fears being sold a robot that replaces their team.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HR makes the 'system of record vs system of action' distinction concrete. The onboarding workflow today is a human router problem: an offer is accepted, HR emails IT, Finance and the hiring manager, then spends days chasing tasks and links before the hire is provisioned and the org chart updated. Incumbents — Workday (around $48K/yr median), Rippling, BambooHR — are excellent databases but, as the research repeatedly shows, terrible action-takers; the provisioning layer (Okta/Entra via SCIM, Zluri) only partly closes the gap. The disruption is event-driven orchestration: an agent fired off the new-hire trigger turns a 5–8-hour, 15–25%-error manual process into minutes, and shifts HR from spending up to 60% of its time on data entry and 'professional nagging' to simply approving. The opportunity is precise: HRIS workflow modules store the record but do not execute across IT, Finance and the manager, and the mid-market feels this most acutely in the 'tooling chasm' between spreadsheets and a full Workday. DataStaqAI's position is INTEGRATE+WORKFLOW — a zero-touch onboarding orchestrator that raises IT provisioning tickets, collects hardware and software needs conversationally, monitors background checks, and updates the HRIS — while leaving the HRIS as the untouchable system of record and dropping the per-seat workflow modules that never actually took the action. The emotional hook for the buyer is the Day-5 new hire still without a laptop, and the HR person blamed for a broken cross-functional process they do not control; the agent removes the blame by doing the chasing. This is a RENEGOTIATE pattern: keep the system of record, strip the workflow seats, own the orchestration in between.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Finance is where the agent ROI is easiest to underwrite because the pain is measured in headcount. The workflow today: an invoice or transaction arrives, a clerk manually codes and keys it into the ERP, performs a three-way match and routes for approval, then reconciles and closes. Incumbents NetSuite, SAP, Oracle, QuickBooks and Bill.com own the ledger; AI-natives are attacking the manual layer on top of it. Ramp — now at a $44B valuation with over $1.5B run-rate revenue and an Accounting Agent that auto-codes transactions for real-time close — reports clean books three times faster and 40-plus hours saved per month; Maximor's audit-ready close agents cut one customer's close from 11 days to 3 with audit issues down over 90%; Rossum and OpenEnvoy attack template-free AP. The disruption framing is that AP keying, which today consumes the equivalent of 3.3–5 full-time staff at 2,000 invoices a month, becomes a software function. Crucially for our positioning, the leading agents layer on top of the ERP rather than replacing it (Maximor explicitly: 'no rip-and-replace'). The opportunity is the off-suite mid-market — companies on Dynamics, Sage or Intacct with diverse vendor formats who pay a consolidation tax to adopt a whole suite. DataStaqAI's position is INTEGRATE+WORKFLOW: wire a no-template AP and reconciliation agent into the existing ERP, explicitly positioned to rescue the failed OCR rollout, owning the three-way match, approval routing and audit trail while the ERP stays the system of record. Land the line from the research: AP should stop being a hiring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Procurement is a back-office function with unusually clean agent ROI because its pain is the 'messy middle' — the approval choreography across legal, finance and risk that sits between an employee request and a paid invoice. The workflow today: intake a request, route it through legal/finance/risk, source and qualify a supplier, then issue a PO and pay. The vendor landscape has split sharply: incumbents Coupa (Navi agents on a $9.5T spend dataset), SAP Ariba (Joule, ~29% share) and Ivalua defend the suite, while a wave of orchestration-native players — Zip ($371M raised, 50+ AI agents, customers including T-Mobile and OpenAI, ~$6B savings unlocked) and ORO Labs ($100M, founded by ex-SAP Ariba executives, customers like Coca-Cola, automating up to 80% of manual review cycles) plus Levelpath and Opstream — rebuild procurement as an agentic orchestration layer. Ardent's survey shows 58% of procurement is now using or piloting AI, so the 'wait and see' era is over. The opportunity for DataStaqAI is the mid-market that wants this orchestration without ripping out Coupa or Ariba or buying a new suite. Our position is INTEGRATE+WORKFLOW: wire an intake-to-pay agent across the systems the company already runs, own the approval orchestration and the policy guardrails (every action logged and auditable), and leave the spend system of record in place. The strategic point to make is that even the AI-native orchestrators are enterprise-first and configuration-heavy; the mid-market needs the outcome delivered, which is the integrator's job, not another platform to administer.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has the single strongest 'deploy an agent now' signal in the portfolio, because the buyers broadcast their pain by posting jobs. The workflow today: an alert fires — a typical SOC sees ~4,400 a day — an L1 analyst triages and gathers context, investigates or escalates, and remediates, with over 90% of alerts proving to be false positives and analysts investigating only a third. Incumbents Splunk, Microsoft Sentinel, Google SecOps and QRadar own the SIEM; AI-natives Prophet, Torq HyperSOC, Dropzone ($57M raised) and Radiant investigate autonomously, while Tines ($1.1B valuation) leads the SOAR-replacement motion as legacy playbooks are declared obsolete. The disruption is that agents investigate 100% of alerts end-to-end and analysts shift to validating completed investigations; notably the deployment often self-funds by letting teams cut SIEM ingest costs. The opportunity is that mid-market security teams and MSSPs cannot stand up and tune a Prophet or Torq deployment alone, and they are regulated and risk-averse. DataStaqAI's position is DEPLOY+TUNE: stand up and tune an investigation agent on the customer's existing SIEM, wire the cross-tool correlation, and frame it as KEEP/enrichment — the SIEM remains the system of record and the agent makes it finally keep up. The go-to-market instruction is to treat L1/Tier-1 SOC-analyst job postings as the lead list: every posting is an account drowning in alerts. And the business case writes itself twice — analyst time recovered plus a SIEM-ingest reduction that, in seven-figure SIEM estates, can exceed the cost of the engagement.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Legal is the function where the price dislocation is most vivid. The workflow today: a legal question triggers a Westlaw or Lexis search — lawyers spend 5–15 hours a week on research, juniors more — followed by reading and assessing cases and drafting a memo or redline, with 25–30% of that research time written off or unbillable. Incumbents (Thomson Reuters' Westlaw/CoCounsel, LexisNexis' Lexis+ Protégé) hold the proprietary corpus and citator; AI-natives Harvey ($11B valuation, $1,200–2,000 per seat, ~$360K entry), Legora and Spellbook attack the research-and-draft loop. The disruption is twofold: the lookup-and-draft loop collapses, and the category was repriced overnight when Anthropic's Claude legal plug-ins triggered a roughly $285B selloff across legal-data and software stocks — but the data fortresses held, which is the strategic lesson: sell on top of the corpus, never as a thin wrapper. The opportunity is the 45–250-attorney mid-size firm priced out of Harvey's entry but needing more than a $20 consumer chat tool, and acutely exposed to hallucination risk (firms have been sanctioned for fake citations). DataStaqAI's position is INTEGRATE+WORKFLOW: a research-and-draft agent whose citations are verified against official reporters with a citator-verification pass, delivered at mid-firm price with the AI-use governance that keeps the firm out of the headlines, while the proprietary corpus and citator stay as a hybrid. The pitch line: a $20 tool now matches a $270 seat, but one bad citation gets you sanctioned — we deliver the verified, governed version.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Analytics is where the agent both threatens and depends on the existing stack, which makes the delivery argument unusually strong. The workflow today is quietly broken: a stakeholder asks a question, an analyst writes SQL or builds a dashboard, the dashboard goes largely unused, and the stakeholder Slacks the analyst anyway — one team deleted 1,200 dashboards and nobody noticed, and dashboards account for as little as 5% of how data actually gets consumed. Incumbents Looker (~$150K/yr, dev-heavy), Power BI and Tableau own the BI seat; AI-natives Snowflake Cortex Analyst, Databricks Genie, ThoughtSpot, Hex and Julius offer natural-language querying. The disruption is that NL-to-SQL collapses the interface and answers in context — but the critical, defensible nuance is that accuracy falls from ~87% on toy schemas to ~10% on real enterprise schemas without a semantic layer, and the warehouse-native tools are locked to their own platform so cross-platform questions have no home. That nuance is the opportunity: the semantic and context layer is the unglamorous, high-value work, and nobody owns it for the mid-market. DataStaqAI's position is INTEGRATE+WORKFLOW, occasionally BUILD — construct the governed semantic layer and wire an ask-the-warehouse agent that returns verified answers with the metric definition attached, leaving the warehouse as the system of record. The pitch is that the model is not the moat and the dashboard is dead; the durable asset is governed context plus an agent that answers — and building and operating that is delivery, not a product the buyer can self-serve.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Engineering is the one cluster where DataStaqAI's posture flips from integrate to build, and it is the sharpest play in the entire portfolio. The painful workflow is modernization: a legacy or low-code application runs the business, the engineers who understand it retire, a manual rewrite is attempted and fails ~70% of the time, and the team maintains an unreadable system forever. Two sub-stories sit here. Code review is a commodity attach: incumbents (GitHub Copilot) and cheap, viral AI-natives (CodeRabbit, Greptile, Qodo) already do it well, so it is a DEPLOY+TUNE service, not a build. The real prize is modernization and low-code escape: incumbents are the cages themselves (OutSystems at $9.5B, Mendix, Retool at $3.2B), and AI-natives Mechanical Orchard and Replay pioneered behavior-grounded modernization that captures tribal knowledge from the running system and reverse-engineers low-code into owned React/Node in months rather than an 18-month rewrite. The decisive fact is that the leading modernizers are explicitly Global-2000-only — Mechanical Orchard even states its platform is built to be operated and delivered by system integrators — so the mid-market is unserved by design. DataStaqAI's position is BUILD: deliver owned, git-native code the client keeps, with no off-the-shelf substitute, using the same behavior-first method the leaders validated; and DEPLOY+TUNE a context-indexed review agent at commit time as an attach. This is where we sell delivery that cannot be bought as a subscription, which is the highest-defensibility position in the book — lead here.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closes the function tour on the KEEP/enrichment pattern, which matters because it shows DataStaqAI is not only a disruptor but an amplifier of investments the customer already made. Two operations sub-domains share a shape. In IT and employee support, the workflow today is incident-or-request, manual triage and ticketing, chase and resolve, repeat — and the market just consolidated dramatically: ServiceNow acquired Moveworks (Dec 2025) and launched an Autonomous Workforce with an out-of-the-box Level-1 Service Desk AI Specialist that resolves password resets, access and provisioning end-to-end, while Aisera (acquired by Automation Anywhere) reports 65–90% deflection. In industrial operations, predictive maintenance incumbents (Honeywell, GE Vernova, Siemens) and AI-natives (Augury, Uptake) ride proprietary sensor data, where the failure mode is alarm fatigue — false positives consume ~40% of wrench time and a real failure once went unnoticed for 11 days at a $340K cost. The disruption in both is the same: agents that fuse signals and emit a work order rather than another alert. The opportunity is that mid-market operations teams cannot run a Moveworks- or Augury-scale deployment alone. DataStaqAI's position is DEPLOY+TUNE under a KEEP framing: stand up and tune the agent on the customer's existing ITSM or sensor stack, build the trustworthy triage and work-order workflow, and let the platform remain the system of record — the agent makes the investment they already made finally pay off. For regulated, risk-averse operations buyers, that 'enrichment, not replacement' framing is the one that gets to yes, and it rounds out the function map ahead of Chapter 4's competitive deep-dive.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Customer Operations is the first function to cross from software-assisted to AI-orchestrated at scale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Tier-1 resolution is being automated end-to-end; the seat count collapses, the system of record survives</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Ticket arrives</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Read KB + history</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Human macro reply</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Escalate or close</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Zendesk, Salesforce, Intercom, Freshdesk</a:t>
            </a:r>
          </a:p>
          <a:p>
            <a:pPr algn="l">
              <a:lnSpc>
                <a:spcPct val="106000"/>
              </a:lnSpc>
              <a:spcBef>
                <a:spcPts val="700"/>
              </a:spcBef>
            </a:pPr>
            <a:r>
              <a:rPr sz="1050" b="0" i="0">
                <a:solidFill>
                  <a:srgbClr val="1B2B3C"/>
                </a:solidFill>
                <a:latin typeface="Calibri"/>
              </a:rPr>
              <a:t>•  AI-native: Sierra ($15.8B), Decagon ($4.5B), Ada, Intercom Fin</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Agents resolve ~80% of tier-1 natively; per-resolution pricing $0.40–1.50</a:t>
            </a:r>
          </a:p>
          <a:p>
            <a:pPr algn="l">
              <a:lnSpc>
                <a:spcPct val="106000"/>
              </a:lnSpc>
              <a:spcBef>
                <a:spcPts val="700"/>
              </a:spcBef>
            </a:pPr>
            <a:r>
              <a:rPr sz="1050" b="0" i="0">
                <a:solidFill>
                  <a:srgbClr val="1B2B3C"/>
                </a:solidFill>
                <a:latin typeface="Calibri"/>
              </a:rPr>
              <a:t>•  Seat count collapses; 'managed' tiers prove buyers can't run it alone</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Mid-market priced out of $50–150K floors + dedicated agent engineers</a:t>
            </a:r>
          </a:p>
          <a:p>
            <a:pPr algn="l">
              <a:lnSpc>
                <a:spcPct val="106000"/>
              </a:lnSpc>
              <a:spcBef>
                <a:spcPts val="700"/>
              </a:spcBef>
            </a:pPr>
            <a:r>
              <a:rPr sz="1050" b="0" i="0">
                <a:solidFill>
                  <a:srgbClr val="1B2B3C"/>
                </a:solidFill>
                <a:latin typeface="Calibri"/>
              </a:rPr>
              <a:t>•  Wire a resolution agent to the existing helpdesk + back-end actions</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resolution-first agent on your helpdesk</a:t>
            </a:r>
          </a:p>
          <a:p>
            <a:pPr algn="l">
              <a:lnSpc>
                <a:spcPct val="106000"/>
              </a:lnSpc>
              <a:spcBef>
                <a:spcPts val="700"/>
              </a:spcBef>
            </a:pPr>
            <a:r>
              <a:rPr sz="1050" b="0" i="0">
                <a:solidFill>
                  <a:srgbClr val="E0F7F1"/>
                </a:solidFill>
                <a:latin typeface="Calibri"/>
              </a:rPr>
              <a:t>•  Per-ticket, bootstrapped off your history; you keep the ticketing SoR</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9 / 46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Sales is splitting in two: agents take prospecting and quoting, humans keep the relationship</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SDR seat and the CPQ grid are both being automated; the closer is not</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Build list + enrich</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Research + personalize</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Sequence + follow up</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Quote + close</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Salesforce, HubSpot, Outreach, Salesloft, Gong; CPQ: Revenue Cloud, DealHub</a:t>
            </a:r>
          </a:p>
          <a:p>
            <a:pPr algn="l">
              <a:lnSpc>
                <a:spcPct val="106000"/>
              </a:lnSpc>
              <a:spcBef>
                <a:spcPts val="700"/>
              </a:spcBef>
            </a:pPr>
            <a:r>
              <a:rPr sz="1050" b="0" i="0">
                <a:solidFill>
                  <a:srgbClr val="1B2B3C"/>
                </a:solidFill>
                <a:latin typeface="Calibri"/>
              </a:rPr>
              <a:t>•  AI-native: 11x ($74M, Alice/Julian), Artisan (Ava), Regie.ai, Clay ($46M)</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Autonomous SDRs research, email &amp; book with no human; the ~$80K SDR seat reallocated</a:t>
            </a:r>
          </a:p>
          <a:p>
            <a:pPr algn="l">
              <a:lnSpc>
                <a:spcPct val="106000"/>
              </a:lnSpc>
              <a:spcBef>
                <a:spcPts val="700"/>
              </a:spcBef>
            </a:pPr>
            <a:r>
              <a:rPr sz="1050" b="0" i="0">
                <a:solidFill>
                  <a:srgbClr val="1B2B3C"/>
                </a:solidFill>
                <a:latin typeface="Calibri"/>
              </a:rPr>
              <a:t>•  Conversational quoting replaces the record-by-record CPQ grid (CPQ End-of-Sale)</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Mid-market wants pipeline, not another silo'd SDR tool + data + warm-up stack</a:t>
            </a:r>
          </a:p>
          <a:p>
            <a:pPr algn="l">
              <a:lnSpc>
                <a:spcPct val="106000"/>
              </a:lnSpc>
              <a:spcBef>
                <a:spcPts val="700"/>
              </a:spcBef>
            </a:pPr>
            <a:r>
              <a:rPr sz="1050" b="0" i="0">
                <a:solidFill>
                  <a:srgbClr val="1B2B3C"/>
                </a:solidFill>
                <a:latin typeface="Calibri"/>
              </a:rPr>
              <a:t>•  Wire SDR + quoting agents into the CRM; own the play + governance</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agentic prospecting + quoting on your CRM</a:t>
            </a:r>
          </a:p>
          <a:p>
            <a:pPr algn="l">
              <a:lnSpc>
                <a:spcPct val="106000"/>
              </a:lnSpc>
              <a:spcBef>
                <a:spcPts val="700"/>
              </a:spcBef>
            </a:pPr>
            <a:r>
              <a:rPr sz="1050" b="0" i="0">
                <a:solidFill>
                  <a:srgbClr val="E0F7F1"/>
                </a:solidFill>
                <a:latin typeface="Calibri"/>
              </a:rPr>
              <a:t>•  Deliverable = pipeline &amp; compliant quotes, not a tool to operate</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10 / 46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HR's system of record is a database that can't act — onboarding is the agent wedge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HRIS stores the new hire; an agent executes the cross-functional chain</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Offer accepted</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Email IT / Finance / mgr</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Chase tasks + links</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Provision + org update</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Workday (~$48K/yr), Rippling, BambooHR</a:t>
            </a:r>
          </a:p>
          <a:p>
            <a:pPr algn="l">
              <a:lnSpc>
                <a:spcPct val="106000"/>
              </a:lnSpc>
              <a:spcBef>
                <a:spcPts val="700"/>
              </a:spcBef>
            </a:pPr>
            <a:r>
              <a:rPr sz="1050" b="0" i="0">
                <a:solidFill>
                  <a:srgbClr val="1B2B3C"/>
                </a:solidFill>
                <a:latin typeface="Calibri"/>
              </a:rPr>
              <a:t>•  Provisioning: Okta / Entra (SCIM), Zluri</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Event-driven provisioning: 5–8 hrs/hire &amp; 15–25% error → minutes</a:t>
            </a:r>
          </a:p>
          <a:p>
            <a:pPr algn="l">
              <a:lnSpc>
                <a:spcPct val="106000"/>
              </a:lnSpc>
              <a:spcBef>
                <a:spcPts val="700"/>
              </a:spcBef>
            </a:pPr>
            <a:r>
              <a:rPr sz="1050" b="0" i="0">
                <a:solidFill>
                  <a:srgbClr val="1B2B3C"/>
                </a:solidFill>
                <a:latin typeface="Calibri"/>
              </a:rPr>
              <a:t>•  HR shifts from 'human router' (60% of time on data entry) to approver</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HRIS workflow modules store data but don't act across systems</a:t>
            </a:r>
          </a:p>
          <a:p>
            <a:pPr algn="l">
              <a:lnSpc>
                <a:spcPct val="106000"/>
              </a:lnSpc>
              <a:spcBef>
                <a:spcPts val="700"/>
              </a:spcBef>
            </a:pPr>
            <a:r>
              <a:rPr sz="1050" b="0" i="0">
                <a:solidFill>
                  <a:srgbClr val="1B2B3C"/>
                </a:solidFill>
                <a:latin typeface="Calibri"/>
              </a:rPr>
              <a:t>•  Zero-touch onboarding orchestrator fired off the new-hire trigger</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orchestrate HR↔IT↔Finance; keep the HRIS SoR</a:t>
            </a:r>
          </a:p>
          <a:p>
            <a:pPr algn="l">
              <a:lnSpc>
                <a:spcPct val="106000"/>
              </a:lnSpc>
              <a:spcBef>
                <a:spcPts val="700"/>
              </a:spcBef>
            </a:pPr>
            <a:r>
              <a:rPr sz="1050" b="0" i="0">
                <a:solidFill>
                  <a:srgbClr val="E0F7F1"/>
                </a:solidFill>
                <a:latin typeface="Calibri"/>
              </a:rPr>
              <a:t>•  Drop the per-seat workflow modules; we own the orchestration</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11 / 46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Finance back-office is a headcount problem agents convert into a software problem</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AP keying and the month-end close are the clearest agent ROI in the office</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Invoice / txn arrives</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Manual code → ERP</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3-way match + approve</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Reconcile + close</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NetSuite, SAP, Oracle, QuickBooks, Bill.com</a:t>
            </a:r>
          </a:p>
          <a:p>
            <a:pPr algn="l">
              <a:lnSpc>
                <a:spcPct val="106000"/>
              </a:lnSpc>
              <a:spcBef>
                <a:spcPts val="700"/>
              </a:spcBef>
            </a:pPr>
            <a:r>
              <a:rPr sz="1050" b="0" i="0">
                <a:solidFill>
                  <a:srgbClr val="1B2B3C"/>
                </a:solidFill>
                <a:latin typeface="Calibri"/>
              </a:rPr>
              <a:t>•  AI-native: Ramp ($44B, Accounting Agent), Maximor (audit-ready close), Rossum, OpenEnvoy</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Auto-coding + real-time close: 'clean books 3x faster, 40+ hrs/mo saved' (Ramp)</a:t>
            </a:r>
          </a:p>
          <a:p>
            <a:pPr algn="l">
              <a:lnSpc>
                <a:spcPct val="106000"/>
              </a:lnSpc>
              <a:spcBef>
                <a:spcPts val="700"/>
              </a:spcBef>
            </a:pPr>
            <a:r>
              <a:rPr sz="1050" b="0" i="0">
                <a:solidFill>
                  <a:srgbClr val="1B2B3C"/>
                </a:solidFill>
                <a:latin typeface="Calibri"/>
              </a:rPr>
              <a:t>•  Maximor: close 11→3 days, audit issues −90%; AP keying = 3.3–5 FTE today</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Off-suite mid-market (Dynamics/Sage) pays the whole-suite consolidation tax</a:t>
            </a:r>
          </a:p>
          <a:p>
            <a:pPr algn="l">
              <a:lnSpc>
                <a:spcPct val="106000"/>
              </a:lnSpc>
              <a:spcBef>
                <a:spcPts val="700"/>
              </a:spcBef>
            </a:pPr>
            <a:r>
              <a:rPr sz="1050" b="0" i="0">
                <a:solidFill>
                  <a:srgbClr val="1B2B3C"/>
                </a:solidFill>
                <a:latin typeface="Calibri"/>
              </a:rPr>
              <a:t>•  Wire a no-template AP + reconciliation agent into the existing ERP</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ERP-wired AP + close agent; rescue failed OCR</a:t>
            </a:r>
          </a:p>
          <a:p>
            <a:pPr algn="l">
              <a:lnSpc>
                <a:spcPct val="106000"/>
              </a:lnSpc>
              <a:spcBef>
                <a:spcPts val="700"/>
              </a:spcBef>
            </a:pPr>
            <a:r>
              <a:rPr sz="1050" b="0" i="0">
                <a:solidFill>
                  <a:srgbClr val="E0F7F1"/>
                </a:solidFill>
                <a:latin typeface="Calibri"/>
              </a:rPr>
              <a:t>•  ERP stays SoR; we own the 3-way match, approval + audit trail</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12 / 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Procurement's intake-to-pay friction is the back office's clearest agent ROI</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The 'messy middle' of approvals across legal, finance and risk is being orchestrated by agents</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Employee request (intake)</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Route legal / finance / risk</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Source + qualify supplier</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PO + approve + pay</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Coupa (Navi, $9.5T data), SAP Ariba (Joule, ~29% share), Ivalua</a:t>
            </a:r>
          </a:p>
          <a:p>
            <a:pPr algn="l">
              <a:lnSpc>
                <a:spcPct val="106000"/>
              </a:lnSpc>
              <a:spcBef>
                <a:spcPts val="700"/>
              </a:spcBef>
            </a:pPr>
            <a:r>
              <a:rPr sz="1050" b="0" i="0">
                <a:solidFill>
                  <a:srgbClr val="1B2B3C"/>
                </a:solidFill>
                <a:latin typeface="Calibri"/>
              </a:rPr>
              <a:t>•  AI-native: Zip ($371M, 50+ agents), ORO Labs ($100M), Levelpath, Opstream</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Agentic intake-to-procure automates up to 80% of manual review cycles (ORO)</a:t>
            </a:r>
          </a:p>
          <a:p>
            <a:pPr algn="l">
              <a:lnSpc>
                <a:spcPct val="106000"/>
              </a:lnSpc>
              <a:spcBef>
                <a:spcPts val="700"/>
              </a:spcBef>
            </a:pPr>
            <a:r>
              <a:rPr sz="1050" b="0" i="0">
                <a:solidFill>
                  <a:srgbClr val="1B2B3C"/>
                </a:solidFill>
                <a:latin typeface="Calibri"/>
              </a:rPr>
              <a:t>•  58% of procurement now using/piloting AI (Ardent); Zip has unlocked ~$6B savings</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Mid-market wants the orchestration layer without a Coupa/Ariba rip-replace</a:t>
            </a:r>
          </a:p>
          <a:p>
            <a:pPr algn="l">
              <a:lnSpc>
                <a:spcPct val="106000"/>
              </a:lnSpc>
              <a:spcBef>
                <a:spcPts val="700"/>
              </a:spcBef>
            </a:pPr>
            <a:r>
              <a:rPr sz="1050" b="0" i="0">
                <a:solidFill>
                  <a:srgbClr val="1B2B3C"/>
                </a:solidFill>
                <a:latin typeface="Calibri"/>
              </a:rPr>
              <a:t>•  Wire an intake → approval → sourcing agent across existing systems</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intake-to-pay agent over your stack</a:t>
            </a:r>
          </a:p>
          <a:p>
            <a:pPr algn="l">
              <a:lnSpc>
                <a:spcPct val="106000"/>
              </a:lnSpc>
              <a:spcBef>
                <a:spcPts val="700"/>
              </a:spcBef>
            </a:pPr>
            <a:r>
              <a:rPr sz="1050" b="0" i="0">
                <a:solidFill>
                  <a:srgbClr val="E0F7F1"/>
                </a:solidFill>
                <a:latin typeface="Calibri"/>
              </a:rPr>
              <a:t>•  Own the approval orchestration + policy guardrails; SoR stays</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13 / 46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SecOps is hiring to triage alerts it can't keep up with — the strongest deploy-an-agent signal</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Tier-1 investigation is being automated; the SIEM stays, the L1 seat compresses</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Alert fires (~4,400/day)</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L1 triage + context</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Investigate / escalate</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Remediate</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Splunk, Microsoft Sentinel, Google SecOps, QRadar</a:t>
            </a:r>
          </a:p>
          <a:p>
            <a:pPr algn="l">
              <a:lnSpc>
                <a:spcPct val="106000"/>
              </a:lnSpc>
              <a:spcBef>
                <a:spcPts val="700"/>
              </a:spcBef>
            </a:pPr>
            <a:r>
              <a:rPr sz="1050" b="0" i="0">
                <a:solidFill>
                  <a:srgbClr val="1B2B3C"/>
                </a:solidFill>
                <a:latin typeface="Calibri"/>
              </a:rPr>
              <a:t>•  AI-native: Prophet, Torq HyperSOC, Dropzone ($57M), Radiant; SOAR: Tines ($1.1B)</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Agents investigate 100% of alerts end-to-end; analysts validate (90%+ FP today)</a:t>
            </a:r>
          </a:p>
          <a:p>
            <a:pPr algn="l">
              <a:lnSpc>
                <a:spcPct val="106000"/>
              </a:lnSpc>
              <a:spcBef>
                <a:spcPts val="700"/>
              </a:spcBef>
            </a:pPr>
            <a:r>
              <a:rPr sz="1050" b="0" i="0">
                <a:solidFill>
                  <a:srgbClr val="1B2B3C"/>
                </a:solidFill>
                <a:latin typeface="Calibri"/>
              </a:rPr>
              <a:t>•  Often self-funds via SIEM-ingest reduction; legacy SOAR playbooks obsolete</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Mid-market + MSSPs can't run a Prophet/Torq deployment alone</a:t>
            </a:r>
          </a:p>
          <a:p>
            <a:pPr algn="l">
              <a:lnSpc>
                <a:spcPct val="106000"/>
              </a:lnSpc>
              <a:spcBef>
                <a:spcPts val="700"/>
              </a:spcBef>
            </a:pPr>
            <a:r>
              <a:rPr sz="1050" b="0" i="0">
                <a:solidFill>
                  <a:srgbClr val="1B2B3C"/>
                </a:solidFill>
                <a:latin typeface="Calibri"/>
              </a:rPr>
              <a:t>•  Deploy + tune an investigation agent on the existing SIEM</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DEPLOY+TUNE: stand up + tune the agent + cross-tool correlation</a:t>
            </a:r>
          </a:p>
          <a:p>
            <a:pPr algn="l">
              <a:lnSpc>
                <a:spcPct val="106000"/>
              </a:lnSpc>
              <a:spcBef>
                <a:spcPts val="700"/>
              </a:spcBef>
            </a:pPr>
            <a:r>
              <a:rPr sz="1050" b="0" i="0">
                <a:solidFill>
                  <a:srgbClr val="E0F7F1"/>
                </a:solidFill>
                <a:latin typeface="Calibri"/>
              </a:rPr>
              <a:t>•  KEEP framing: the SIEM stays SoR; we make it finally keep up</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14 / 46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Legal research is where a $20 tool already matches a $270 seat — the mid-firm wedge</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Lookup-and-draft is automated; the citator corpus and the judgment stay</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Legal question</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Search Westlaw/Lexis (5–15 hr/wk)</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Read + assess cases</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Draft memo / redline</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Westlaw / CoCounsel, Lexis+ Protégé</a:t>
            </a:r>
          </a:p>
          <a:p>
            <a:pPr algn="l">
              <a:lnSpc>
                <a:spcPct val="106000"/>
              </a:lnSpc>
              <a:spcBef>
                <a:spcPts val="700"/>
              </a:spcBef>
            </a:pPr>
            <a:r>
              <a:rPr sz="1050" b="0" i="0">
                <a:solidFill>
                  <a:srgbClr val="1B2B3C"/>
                </a:solidFill>
                <a:latin typeface="Calibri"/>
              </a:rPr>
              <a:t>•  AI-native: Harvey ($11B, $1.2–2K/seat), Legora, Spellbook</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Lookup-and-draft loop collapses; 25–30% of research is unbillable today</a:t>
            </a:r>
          </a:p>
          <a:p>
            <a:pPr algn="l">
              <a:lnSpc>
                <a:spcPct val="106000"/>
              </a:lnSpc>
              <a:spcBef>
                <a:spcPts val="700"/>
              </a:spcBef>
            </a:pPr>
            <a:r>
              <a:rPr sz="1050" b="0" i="0">
                <a:solidFill>
                  <a:srgbClr val="1B2B3C"/>
                </a:solidFill>
                <a:latin typeface="Calibri"/>
              </a:rPr>
              <a:t>•  Anthropic's Claude legal plug-ins → ~$285B incumbent selloff</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45–250-attorney firms priced out of Harvey's ~$360K entry</a:t>
            </a:r>
          </a:p>
          <a:p>
            <a:pPr algn="l">
              <a:lnSpc>
                <a:spcPct val="106000"/>
              </a:lnSpc>
              <a:spcBef>
                <a:spcPts val="700"/>
              </a:spcBef>
            </a:pPr>
            <a:r>
              <a:rPr sz="1050" b="0" i="0">
                <a:solidFill>
                  <a:srgbClr val="1B2B3C"/>
                </a:solidFill>
                <a:latin typeface="Calibri"/>
              </a:rPr>
              <a:t>•  Citator-verified research/draft agent + AI-use governance</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research/draft agent verified to official reporters</a:t>
            </a:r>
          </a:p>
          <a:p>
            <a:pPr algn="l">
              <a:lnSpc>
                <a:spcPct val="106000"/>
              </a:lnSpc>
              <a:spcBef>
                <a:spcPts val="700"/>
              </a:spcBef>
            </a:pPr>
            <a:r>
              <a:rPr sz="1050" b="0" i="0">
                <a:solidFill>
                  <a:srgbClr val="E0F7F1"/>
                </a:solidFill>
                <a:latin typeface="Calibri"/>
              </a:rPr>
              <a:t>•  Mid-firm price; corpus/citator kept as hybrid; hallucination guardrail</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15 / 46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Dashboards go unused; the agent answers the question — but only over a governed semantic layer</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Text-to-SQL collapses the BI interface; the warehouse and the semantic layer stay</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Stakeholder question</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Analyst writes SQL / builds dashboard</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Dashboard ignored</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Slack the analyst anyway</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Looker (~$150K), Power BI, Tableau</a:t>
            </a:r>
          </a:p>
          <a:p>
            <a:pPr algn="l">
              <a:lnSpc>
                <a:spcPct val="106000"/>
              </a:lnSpc>
              <a:spcBef>
                <a:spcPts val="700"/>
              </a:spcBef>
            </a:pPr>
            <a:r>
              <a:rPr sz="1050" b="0" i="0">
                <a:solidFill>
                  <a:srgbClr val="1B2B3C"/>
                </a:solidFill>
                <a:latin typeface="Calibri"/>
              </a:rPr>
              <a:t>•  AI-native: Snowflake Cortex, Databricks Genie, ThoughtSpot, Hex, Julius</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NL→SQL answers in context; '1,200 dashboards deleted, nobody noticed'</a:t>
            </a:r>
          </a:p>
          <a:p>
            <a:pPr algn="l">
              <a:lnSpc>
                <a:spcPct val="106000"/>
              </a:lnSpc>
              <a:spcBef>
                <a:spcPts val="700"/>
              </a:spcBef>
            </a:pPr>
            <a:r>
              <a:rPr sz="1050" b="0" i="0">
                <a:solidFill>
                  <a:srgbClr val="1B2B3C"/>
                </a:solidFill>
                <a:latin typeface="Calibri"/>
              </a:rPr>
              <a:t>•  Accuracy is ~87%→~10% on real schemas without a semantic layer</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The semantic/context layer is the real work; cross-platform has no home</a:t>
            </a:r>
          </a:p>
          <a:p>
            <a:pPr algn="l">
              <a:lnSpc>
                <a:spcPct val="106000"/>
              </a:lnSpc>
              <a:spcBef>
                <a:spcPts val="700"/>
              </a:spcBef>
            </a:pPr>
            <a:r>
              <a:rPr sz="1050" b="0" i="0">
                <a:solidFill>
                  <a:srgbClr val="1B2B3C"/>
                </a:solidFill>
                <a:latin typeface="Calibri"/>
              </a:rPr>
              <a:t>•  Build the semantic layer + wire an ask-the-warehouse agent</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INTEGRATE+WORKFLOW (occasionally BUILD the semantic layer)</a:t>
            </a:r>
          </a:p>
          <a:p>
            <a:pPr algn="l">
              <a:lnSpc>
                <a:spcPct val="106000"/>
              </a:lnSpc>
              <a:spcBef>
                <a:spcPts val="700"/>
              </a:spcBef>
            </a:pPr>
            <a:r>
              <a:rPr sz="1050" b="0" i="0">
                <a:solidFill>
                  <a:srgbClr val="E0F7F1"/>
                </a:solidFill>
                <a:latin typeface="Calibri"/>
              </a:rPr>
              <a:t>•  Verified NL→SQL over the warehouse; the warehouse stays SoR</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16 /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Engineering is where DataStaqAI builds, not integrates — owned-code modernization is the sharpest play</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Code review is a deploy-and-tune attach; legacy and low-code escape are true BUILD plays</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Legacy / low-code app</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Tribal knowledge retires</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Manual rewrite (70% fail)</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Maintain forever</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GitHub Copilot; OutSystems ($9.5B), Mendix, Retool ($3.2B)</a:t>
            </a:r>
          </a:p>
          <a:p>
            <a:pPr algn="l">
              <a:lnSpc>
                <a:spcPct val="106000"/>
              </a:lnSpc>
              <a:spcBef>
                <a:spcPts val="700"/>
              </a:spcBef>
            </a:pPr>
            <a:r>
              <a:rPr sz="1050" b="0" i="0">
                <a:solidFill>
                  <a:srgbClr val="1B2B3C"/>
                </a:solidFill>
                <a:latin typeface="Calibri"/>
              </a:rPr>
              <a:t>•  AI-native: CodeRabbit, Greptile, Qodo (review); Mechanical Orchard, Replay (modernize)</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Behavior-grounded modernization captures tribal knowledge from runtime</a:t>
            </a:r>
          </a:p>
          <a:p>
            <a:pPr algn="l">
              <a:lnSpc>
                <a:spcPct val="106000"/>
              </a:lnSpc>
              <a:spcBef>
                <a:spcPts val="700"/>
              </a:spcBef>
            </a:pPr>
            <a:r>
              <a:rPr sz="1050" b="0" i="0">
                <a:solidFill>
                  <a:srgbClr val="1B2B3C"/>
                </a:solidFill>
                <a:latin typeface="Calibri"/>
              </a:rPr>
              <a:t>•  Reverse-engineer low-code → owned React/Node in months, not an 18-month rewrite</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The leading modernizers are Global-2000-only; the mid-market is unserved</a:t>
            </a:r>
          </a:p>
          <a:p>
            <a:pPr algn="l">
              <a:lnSpc>
                <a:spcPct val="106000"/>
              </a:lnSpc>
              <a:spcBef>
                <a:spcPts val="700"/>
              </a:spcBef>
            </a:pPr>
            <a:r>
              <a:rPr sz="1050" b="0" i="0">
                <a:solidFill>
                  <a:srgbClr val="1B2B3C"/>
                </a:solidFill>
                <a:latin typeface="Calibri"/>
              </a:rPr>
              <a:t>•  BUILD the owned-code escape; DEPLOY code-review as an attach</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BUILD (sharpest play): owned code the client keeps; no off-the-shelf sub</a:t>
            </a:r>
          </a:p>
          <a:p>
            <a:pPr algn="l">
              <a:lnSpc>
                <a:spcPct val="106000"/>
              </a:lnSpc>
              <a:spcBef>
                <a:spcPts val="700"/>
              </a:spcBef>
            </a:pPr>
            <a:r>
              <a:rPr sz="1050" b="0" i="0">
                <a:solidFill>
                  <a:srgbClr val="E0F7F1"/>
                </a:solidFill>
                <a:latin typeface="Calibri"/>
              </a:rPr>
              <a:t>•  DEPLOY+TUNE: context-indexed review agent at commit time</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17 / 46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84048"/>
            <a:ext cx="11094415" cy="603504"/>
          </a:xfrm>
          <a:prstGeom prst="rect">
            <a:avLst/>
          </a:prstGeom>
          <a:noFill/>
        </p:spPr>
        <p:txBody>
          <a:bodyPr wrap="square" anchor="t" lIns="0" rIns="0" tIns="0" bIns="0">
            <a:normAutofit/>
          </a:bodyPr>
          <a:lstStyle/>
          <a:p>
            <a:pPr algn="l">
              <a:lnSpc>
                <a:spcPct val="105000"/>
              </a:lnSpc>
              <a:spcBef>
                <a:spcPts val="0"/>
              </a:spcBef>
            </a:pPr>
            <a:r>
              <a:rPr sz="3000" b="1" i="0">
                <a:solidFill>
                  <a:srgbClr val="0A1628"/>
                </a:solidFill>
                <a:latin typeface="Calibri"/>
              </a:rPr>
              <a:t>Operations is where enrichment wins — make the predictive and ITSM investment finally pay off</a:t>
            </a:r>
          </a:p>
        </p:txBody>
      </p:sp>
      <p:sp>
        <p:nvSpPr>
          <p:cNvPr id="5" name="Rectangle 4"/>
          <p:cNvSpPr/>
          <p:nvPr/>
        </p:nvSpPr>
        <p:spPr>
          <a:xfrm>
            <a:off x="548640" y="1024128"/>
            <a:ext cx="1325880" cy="45720"/>
          </a:xfrm>
          <a:prstGeom prst="rect">
            <a:avLst/>
          </a:prstGeom>
          <a:solidFill>
            <a:srgbClr val="00C9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52144"/>
            <a:ext cx="11094415" cy="365760"/>
          </a:xfrm>
          <a:prstGeom prst="rect">
            <a:avLst/>
          </a:prstGeom>
          <a:noFill/>
        </p:spPr>
        <p:txBody>
          <a:bodyPr wrap="square" anchor="t" lIns="0" rIns="0" tIns="0" bIns="0">
            <a:noAutofit/>
          </a:bodyPr>
          <a:lstStyle/>
          <a:p>
            <a:pPr algn="l">
              <a:lnSpc>
                <a:spcPct val="105000"/>
              </a:lnSpc>
              <a:spcBef>
                <a:spcPts val="0"/>
              </a:spcBef>
            </a:pPr>
            <a:r>
              <a:rPr sz="1450" b="0" i="0">
                <a:solidFill>
                  <a:srgbClr val="5B6B7C"/>
                </a:solidFill>
                <a:latin typeface="Calibri"/>
              </a:rPr>
              <a:t>IT/employee support and predictive ops are KEEP plays: ride the data, fix the workflow</a:t>
            </a:r>
          </a:p>
        </p:txBody>
      </p:sp>
      <p:sp>
        <p:nvSpPr>
          <p:cNvPr id="7" name="TextBox 6"/>
          <p:cNvSpPr txBox="1"/>
          <p:nvPr/>
        </p:nvSpPr>
        <p:spPr>
          <a:xfrm>
            <a:off x="548640" y="1481328"/>
            <a:ext cx="3657600" cy="274320"/>
          </a:xfrm>
          <a:prstGeom prst="rect">
            <a:avLst/>
          </a:prstGeom>
          <a:noFill/>
        </p:spPr>
        <p:txBody>
          <a:bodyPr wrap="square" anchor="t" lIns="0" rIns="0" tIns="0" bIns="0">
            <a:noAutofit/>
          </a:bodyPr>
          <a:lstStyle/>
          <a:p>
            <a:pPr algn="l">
              <a:lnSpc>
                <a:spcPct val="105000"/>
              </a:lnSpc>
              <a:spcBef>
                <a:spcPts val="0"/>
              </a:spcBef>
            </a:pPr>
            <a:r>
              <a:rPr sz="1100" b="1" i="0">
                <a:solidFill>
                  <a:srgbClr val="5B6B7C"/>
                </a:solidFill>
                <a:latin typeface="Calibri"/>
              </a:rPr>
              <a:t>WORKFLOW TODAY</a:t>
            </a:r>
          </a:p>
        </p:txBody>
      </p:sp>
      <p:sp>
        <p:nvSpPr>
          <p:cNvPr id="8" name="Rounded Rectangle 7"/>
          <p:cNvSpPr/>
          <p:nvPr/>
        </p:nvSpPr>
        <p:spPr>
          <a:xfrm>
            <a:off x="54864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Incident / request</a:t>
            </a:r>
          </a:p>
        </p:txBody>
      </p:sp>
      <p:sp>
        <p:nvSpPr>
          <p:cNvPr id="10" name="TextBox 9"/>
          <p:cNvSpPr txBox="1"/>
          <p:nvPr/>
        </p:nvSpPr>
        <p:spPr>
          <a:xfrm>
            <a:off x="301752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1" name="Rounded Rectangle 10"/>
          <p:cNvSpPr/>
          <p:nvPr/>
        </p:nvSpPr>
        <p:spPr>
          <a:xfrm>
            <a:off x="320040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9184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Manual triage / ticket</a:t>
            </a:r>
          </a:p>
        </p:txBody>
      </p:sp>
      <p:sp>
        <p:nvSpPr>
          <p:cNvPr id="13" name="TextBox 12"/>
          <p:cNvSpPr txBox="1"/>
          <p:nvPr/>
        </p:nvSpPr>
        <p:spPr>
          <a:xfrm>
            <a:off x="566928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4" name="Rounded Rectangle 13"/>
          <p:cNvSpPr/>
          <p:nvPr/>
        </p:nvSpPr>
        <p:spPr>
          <a:xfrm>
            <a:off x="585216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Chase + resolve</a:t>
            </a:r>
          </a:p>
        </p:txBody>
      </p:sp>
      <p:sp>
        <p:nvSpPr>
          <p:cNvPr id="16" name="TextBox 15"/>
          <p:cNvSpPr txBox="1"/>
          <p:nvPr/>
        </p:nvSpPr>
        <p:spPr>
          <a:xfrm>
            <a:off x="8321040" y="1783080"/>
            <a:ext cx="182880" cy="566928"/>
          </a:xfrm>
          <a:prstGeom prst="rect">
            <a:avLst/>
          </a:prstGeom>
          <a:noFill/>
        </p:spPr>
        <p:txBody>
          <a:bodyPr wrap="square" anchor="ctr" lIns="0" rIns="0" tIns="0" bIns="0">
            <a:noAutofit/>
          </a:bodyPr>
          <a:lstStyle/>
          <a:p>
            <a:pPr algn="ctr">
              <a:lnSpc>
                <a:spcPct val="105000"/>
              </a:lnSpc>
              <a:spcBef>
                <a:spcPts val="0"/>
              </a:spcBef>
            </a:pPr>
            <a:r>
              <a:rPr sz="2000" b="1" i="0">
                <a:solidFill>
                  <a:srgbClr val="00C9A7"/>
                </a:solidFill>
                <a:latin typeface="Calibri"/>
              </a:rPr>
              <a:t>→</a:t>
            </a:r>
          </a:p>
        </p:txBody>
      </p:sp>
      <p:sp>
        <p:nvSpPr>
          <p:cNvPr id="17" name="Rounded Rectangle 16"/>
          <p:cNvSpPr/>
          <p:nvPr/>
        </p:nvSpPr>
        <p:spPr>
          <a:xfrm>
            <a:off x="8503920" y="1783080"/>
            <a:ext cx="2468880" cy="566928"/>
          </a:xfrm>
          <a:prstGeom prst="roundRect">
            <a:avLst>
              <a:gd name="adj" fmla="val 6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83080"/>
            <a:ext cx="2286000" cy="566928"/>
          </a:xfrm>
          <a:prstGeom prst="rect">
            <a:avLst/>
          </a:prstGeom>
          <a:noFill/>
        </p:spPr>
        <p:txBody>
          <a:bodyPr wrap="square" anchor="ctr" lIns="0" rIns="0" tIns="0" bIns="0">
            <a:normAutofit/>
          </a:bodyPr>
          <a:lstStyle/>
          <a:p>
            <a:pPr algn="ctr">
              <a:lnSpc>
                <a:spcPct val="105000"/>
              </a:lnSpc>
              <a:spcBef>
                <a:spcPts val="0"/>
              </a:spcBef>
            </a:pPr>
            <a:r>
              <a:rPr sz="1050" b="0" i="0">
                <a:solidFill>
                  <a:srgbClr val="FFFFFF"/>
                </a:solidFill>
                <a:latin typeface="Calibri"/>
              </a:rPr>
              <a:t>Recurring toil</a:t>
            </a:r>
          </a:p>
        </p:txBody>
      </p:sp>
      <p:sp>
        <p:nvSpPr>
          <p:cNvPr id="19" name="Rounded Rectangle 18"/>
          <p:cNvSpPr/>
          <p:nvPr/>
        </p:nvSpPr>
        <p:spPr>
          <a:xfrm>
            <a:off x="548640"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CURRENT VENDORS</a:t>
            </a:r>
          </a:p>
        </p:txBody>
      </p:sp>
      <p:sp>
        <p:nvSpPr>
          <p:cNvPr id="21" name="TextBox 20"/>
          <p:cNvSpPr txBox="1"/>
          <p:nvPr/>
        </p:nvSpPr>
        <p:spPr>
          <a:xfrm>
            <a:off x="713232"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Incumbents: ServiceNow (Autonomous Workforce), Atlassian; predictive: Honeywell, GE, Siemens</a:t>
            </a:r>
          </a:p>
          <a:p>
            <a:pPr algn="l">
              <a:lnSpc>
                <a:spcPct val="106000"/>
              </a:lnSpc>
              <a:spcBef>
                <a:spcPts val="700"/>
              </a:spcBef>
            </a:pPr>
            <a:r>
              <a:rPr sz="1050" b="0" i="0">
                <a:solidFill>
                  <a:srgbClr val="1B2B3C"/>
                </a:solidFill>
                <a:latin typeface="Calibri"/>
              </a:rPr>
              <a:t>•  AI-native: Moveworks (→ServiceNow), Aisera (→Automation Anywhere); Augury, Uptake</a:t>
            </a:r>
          </a:p>
        </p:txBody>
      </p:sp>
      <p:sp>
        <p:nvSpPr>
          <p:cNvPr id="22" name="Rounded Rectangle 21"/>
          <p:cNvSpPr/>
          <p:nvPr/>
        </p:nvSpPr>
        <p:spPr>
          <a:xfrm>
            <a:off x="3319272"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83864"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AI DISRUPTION</a:t>
            </a:r>
          </a:p>
        </p:txBody>
      </p:sp>
      <p:sp>
        <p:nvSpPr>
          <p:cNvPr id="24" name="TextBox 23"/>
          <p:cNvSpPr txBox="1"/>
          <p:nvPr/>
        </p:nvSpPr>
        <p:spPr>
          <a:xfrm>
            <a:off x="3483864"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L1 service-desk AI specialists resolve password/access/provisioning end-to-end</a:t>
            </a:r>
          </a:p>
          <a:p>
            <a:pPr algn="l">
              <a:lnSpc>
                <a:spcPct val="106000"/>
              </a:lnSpc>
              <a:spcBef>
                <a:spcPts val="700"/>
              </a:spcBef>
            </a:pPr>
            <a:r>
              <a:rPr sz="1050" b="0" i="0">
                <a:solidFill>
                  <a:srgbClr val="1B2B3C"/>
                </a:solidFill>
                <a:latin typeface="Calibri"/>
              </a:rPr>
              <a:t>•  Predictive: fuse signals → work orders, not alarms (false positives = 40% of wrench time)</a:t>
            </a:r>
          </a:p>
        </p:txBody>
      </p:sp>
      <p:sp>
        <p:nvSpPr>
          <p:cNvPr id="25" name="Rounded Rectangle 24"/>
          <p:cNvSpPr/>
          <p:nvPr/>
        </p:nvSpPr>
        <p:spPr>
          <a:xfrm>
            <a:off x="6089904" y="2697480"/>
            <a:ext cx="2606040" cy="3246120"/>
          </a:xfrm>
          <a:prstGeom prst="roundRect">
            <a:avLst>
              <a:gd name="adj" fmla="val 5000"/>
            </a:avLst>
          </a:prstGeom>
          <a:solidFill>
            <a:srgbClr val="F4F7F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54496"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A1628"/>
                </a:solidFill>
                <a:latin typeface="Calibri"/>
              </a:rPr>
              <a:t>OPPORTUNITY</a:t>
            </a:r>
          </a:p>
        </p:txBody>
      </p:sp>
      <p:sp>
        <p:nvSpPr>
          <p:cNvPr id="27" name="TextBox 26"/>
          <p:cNvSpPr txBox="1"/>
          <p:nvPr/>
        </p:nvSpPr>
        <p:spPr>
          <a:xfrm>
            <a:off x="6254496"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1B2B3C"/>
                </a:solidFill>
                <a:latin typeface="Calibri"/>
              </a:rPr>
              <a:t>•  Mid-market can't run Moveworks/Augury-scale deployments alone</a:t>
            </a:r>
          </a:p>
          <a:p>
            <a:pPr algn="l">
              <a:lnSpc>
                <a:spcPct val="106000"/>
              </a:lnSpc>
              <a:spcBef>
                <a:spcPts val="700"/>
              </a:spcBef>
            </a:pPr>
            <a:r>
              <a:rPr sz="1050" b="0" i="0">
                <a:solidFill>
                  <a:srgbClr val="1B2B3C"/>
                </a:solidFill>
                <a:latin typeface="Calibri"/>
              </a:rPr>
              <a:t>•  Deploy + tune the agent on the existing ITSM / sensor stack</a:t>
            </a:r>
          </a:p>
        </p:txBody>
      </p:sp>
      <p:sp>
        <p:nvSpPr>
          <p:cNvPr id="28" name="Rounded Rectangle 27"/>
          <p:cNvSpPr/>
          <p:nvPr/>
        </p:nvSpPr>
        <p:spPr>
          <a:xfrm>
            <a:off x="8860536" y="2697480"/>
            <a:ext cx="2606040" cy="3246120"/>
          </a:xfrm>
          <a:prstGeom prst="roundRect">
            <a:avLst>
              <a:gd name="adj" fmla="val 5000"/>
            </a:avLst>
          </a:prstGeom>
          <a:solidFill>
            <a:srgbClr val="0A1628"/>
          </a:solidFill>
          <a:ln>
            <a:noFill/>
          </a:ln>
          <a:effectLst>
            <a:outerShdw blurRad="80000" dist="30000" dir="5400000" rotWithShape="0">
              <a:srgbClr val="0A1628">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25128" y="2834640"/>
            <a:ext cx="2276856" cy="320040"/>
          </a:xfrm>
          <a:prstGeom prst="rect">
            <a:avLst/>
          </a:prstGeom>
          <a:noFill/>
        </p:spPr>
        <p:txBody>
          <a:bodyPr wrap="square" anchor="t" lIns="0" rIns="0" tIns="0" bIns="0">
            <a:noAutofit/>
          </a:bodyPr>
          <a:lstStyle/>
          <a:p>
            <a:pPr algn="l">
              <a:lnSpc>
                <a:spcPct val="105000"/>
              </a:lnSpc>
              <a:spcBef>
                <a:spcPts val="0"/>
              </a:spcBef>
            </a:pPr>
            <a:r>
              <a:rPr sz="1150" b="1" i="0">
                <a:solidFill>
                  <a:srgbClr val="00C9A7"/>
                </a:solidFill>
                <a:latin typeface="Calibri"/>
              </a:rPr>
              <a:t>DATASTAQAI POSITION</a:t>
            </a:r>
          </a:p>
        </p:txBody>
      </p:sp>
      <p:sp>
        <p:nvSpPr>
          <p:cNvPr id="30" name="TextBox 29"/>
          <p:cNvSpPr txBox="1"/>
          <p:nvPr/>
        </p:nvSpPr>
        <p:spPr>
          <a:xfrm>
            <a:off x="9025128" y="3246120"/>
            <a:ext cx="2276856" cy="2606040"/>
          </a:xfrm>
          <a:prstGeom prst="rect">
            <a:avLst/>
          </a:prstGeom>
          <a:noFill/>
        </p:spPr>
        <p:txBody>
          <a:bodyPr wrap="square" anchor="t" lIns="0" rIns="0" tIns="0" bIns="0">
            <a:normAutofit/>
          </a:bodyPr>
          <a:lstStyle/>
          <a:p>
            <a:pPr algn="l">
              <a:lnSpc>
                <a:spcPct val="106000"/>
              </a:lnSpc>
              <a:spcBef>
                <a:spcPts val="700"/>
              </a:spcBef>
            </a:pPr>
            <a:r>
              <a:rPr sz="1050" b="0" i="0">
                <a:solidFill>
                  <a:srgbClr val="E0F7F1"/>
                </a:solidFill>
                <a:latin typeface="Calibri"/>
              </a:rPr>
              <a:t>•  DEPLOY+TUNE / KEEP: enrichment that compounds the data moat</a:t>
            </a:r>
          </a:p>
          <a:p>
            <a:pPr algn="l">
              <a:lnSpc>
                <a:spcPct val="106000"/>
              </a:lnSpc>
              <a:spcBef>
                <a:spcPts val="700"/>
              </a:spcBef>
            </a:pPr>
            <a:r>
              <a:rPr sz="1050" b="0" i="0">
                <a:solidFill>
                  <a:srgbClr val="E0F7F1"/>
                </a:solidFill>
                <a:latin typeface="Calibri"/>
              </a:rPr>
              <a:t>•  Trustworthy triage + work-order agent; the platform stays SoR</a:t>
            </a:r>
          </a:p>
        </p:txBody>
      </p:sp>
      <p:sp>
        <p:nvSpPr>
          <p:cNvPr id="31" name="TextBox 30"/>
          <p:cNvSpPr txBox="1"/>
          <p:nvPr/>
        </p:nvSpPr>
        <p:spPr>
          <a:xfrm>
            <a:off x="548640" y="6473952"/>
            <a:ext cx="8229600" cy="274320"/>
          </a:xfrm>
          <a:prstGeom prst="rect">
            <a:avLst/>
          </a:prstGeom>
          <a:noFill/>
        </p:spPr>
        <p:txBody>
          <a:bodyPr wrap="square" anchor="t" lIns="0" rIns="0" tIns="0" bIns="0">
            <a:noAutofit/>
          </a:bodyPr>
          <a:lstStyle/>
          <a:p>
            <a:pPr algn="l">
              <a:lnSpc>
                <a:spcPct val="105000"/>
              </a:lnSpc>
              <a:spcBef>
                <a:spcPts val="0"/>
              </a:spcBef>
            </a:pPr>
            <a:r>
              <a:rPr sz="900" b="0" i="0">
                <a:solidFill>
                  <a:srgbClr val="5B6B7C"/>
                </a:solidFill>
                <a:latin typeface="Calibri"/>
              </a:rPr>
              <a:t>DataStaqAI · The Agentic Enterprise · Chapter 3: Business Use Cases</a:t>
            </a:r>
          </a:p>
        </p:txBody>
      </p:sp>
      <p:sp>
        <p:nvSpPr>
          <p:cNvPr id="32" name="TextBox 31"/>
          <p:cNvSpPr txBox="1"/>
          <p:nvPr/>
        </p:nvSpPr>
        <p:spPr>
          <a:xfrm>
            <a:off x="11002975" y="6455664"/>
            <a:ext cx="640080" cy="274320"/>
          </a:xfrm>
          <a:prstGeom prst="rect">
            <a:avLst/>
          </a:prstGeom>
          <a:noFill/>
        </p:spPr>
        <p:txBody>
          <a:bodyPr wrap="square" anchor="t" lIns="0" rIns="0" tIns="0" bIns="0">
            <a:noAutofit/>
          </a:bodyPr>
          <a:lstStyle/>
          <a:p>
            <a:pPr algn="r">
              <a:lnSpc>
                <a:spcPct val="105000"/>
              </a:lnSpc>
              <a:spcBef>
                <a:spcPts val="0"/>
              </a:spcBef>
            </a:pPr>
            <a:r>
              <a:rPr sz="1000" b="1" i="0">
                <a:solidFill>
                  <a:srgbClr val="5B6B7C"/>
                </a:solidFill>
                <a:latin typeface="Calibri"/>
              </a:rPr>
              <a:t>18 / 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